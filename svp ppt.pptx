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7" r:id="rId2"/>
    <p:sldId id="258" r:id="rId3"/>
    <p:sldId id="259" r:id="rId4"/>
    <p:sldId id="280" r:id="rId5"/>
    <p:sldId id="268" r:id="rId6"/>
    <p:sldId id="260" r:id="rId7"/>
    <p:sldId id="312" r:id="rId8"/>
    <p:sldId id="313" r:id="rId9"/>
    <p:sldId id="299" r:id="rId10"/>
    <p:sldId id="300" r:id="rId11"/>
    <p:sldId id="301" r:id="rId12"/>
    <p:sldId id="302" r:id="rId13"/>
    <p:sldId id="303" r:id="rId14"/>
    <p:sldId id="304" r:id="rId15"/>
    <p:sldId id="315" r:id="rId16"/>
    <p:sldId id="316" r:id="rId17"/>
    <p:sldId id="318" r:id="rId18"/>
    <p:sldId id="314" r:id="rId19"/>
    <p:sldId id="319" r:id="rId20"/>
    <p:sldId id="321" r:id="rId21"/>
    <p:sldId id="322" r:id="rId22"/>
    <p:sldId id="323" r:id="rId23"/>
    <p:sldId id="324" r:id="rId24"/>
    <p:sldId id="330" r:id="rId25"/>
    <p:sldId id="325" r:id="rId26"/>
    <p:sldId id="326" r:id="rId27"/>
    <p:sldId id="328" r:id="rId28"/>
    <p:sldId id="32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31" autoAdjust="0"/>
    <p:restoredTop sz="94660"/>
  </p:normalViewPr>
  <p:slideViewPr>
    <p:cSldViewPr snapToGrid="0">
      <p:cViewPr varScale="1">
        <p:scale>
          <a:sx n="74" d="100"/>
          <a:sy n="74" d="100"/>
        </p:scale>
        <p:origin x="994"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FFB5F8-3C92-40F9-83EF-E67BD26AA641}" type="datetimeFigureOut">
              <a:rPr lang="en-IN" smtClean="0"/>
              <a:t>18-09-2025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481AF1-334C-4127-9827-DA3EBF6191A0}" type="slidenum">
              <a:rPr lang="en-IN" smtClean="0"/>
              <a:t>‹#›</a:t>
            </a:fld>
            <a:endParaRPr lang="en-IN"/>
          </a:p>
        </p:txBody>
      </p:sp>
    </p:spTree>
    <p:extLst>
      <p:ext uri="{BB962C8B-B14F-4D97-AF65-F5344CB8AC3E}">
        <p14:creationId xmlns:p14="http://schemas.microsoft.com/office/powerpoint/2010/main" val="1891781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481AF1-334C-4127-9827-DA3EBF6191A0}" type="slidenum">
              <a:rPr lang="en-IN" smtClean="0"/>
              <a:t>4</a:t>
            </a:fld>
            <a:endParaRPr lang="en-IN"/>
          </a:p>
        </p:txBody>
      </p:sp>
    </p:spTree>
    <p:extLst>
      <p:ext uri="{BB962C8B-B14F-4D97-AF65-F5344CB8AC3E}">
        <p14:creationId xmlns:p14="http://schemas.microsoft.com/office/powerpoint/2010/main" val="1853720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481AF1-334C-4127-9827-DA3EBF6191A0}" type="slidenum">
              <a:rPr lang="en-IN" smtClean="0"/>
              <a:t>5</a:t>
            </a:fld>
            <a:endParaRPr lang="en-IN"/>
          </a:p>
        </p:txBody>
      </p:sp>
    </p:spTree>
    <p:extLst>
      <p:ext uri="{BB962C8B-B14F-4D97-AF65-F5344CB8AC3E}">
        <p14:creationId xmlns:p14="http://schemas.microsoft.com/office/powerpoint/2010/main" val="3680978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18-09-2025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18-09-2025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E09F6-35F0-4BD9-B413-870CCF1D7DBE}" type="datetimeFigureOut">
              <a:rPr lang="en-IN" smtClean="0"/>
              <a:t>18-09-2025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0DE09F6-35F0-4BD9-B413-870CCF1D7DBE}" type="datetimeFigureOut">
              <a:rPr lang="en-IN" smtClean="0"/>
              <a:t>18-09-2025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0DE09F6-35F0-4BD9-B413-870CCF1D7DBE}" type="datetimeFigureOut">
              <a:rPr lang="en-IN" smtClean="0"/>
              <a:t>18-09-2025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0DE09F6-35F0-4BD9-B413-870CCF1D7DBE}" type="datetimeFigureOut">
              <a:rPr lang="en-IN" smtClean="0"/>
              <a:t>18-09-2025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E09F6-35F0-4BD9-B413-870CCF1D7DBE}" type="datetimeFigureOut">
              <a:rPr lang="en-IN" smtClean="0"/>
              <a:t>18-09-2025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E09F6-35F0-4BD9-B413-870CCF1D7DBE}" type="datetimeFigureOut">
              <a:rPr lang="en-IN" smtClean="0"/>
              <a:t>18-09-2025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E09F6-35F0-4BD9-B413-870CCF1D7DBE}" type="datetimeFigureOut">
              <a:rPr lang="en-IN" smtClean="0"/>
              <a:t>18-09-2025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18-09-2025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18-09-2025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DE09F6-35F0-4BD9-B413-870CCF1D7DBE}" type="datetimeFigureOut">
              <a:rPr lang="en-IN" smtClean="0"/>
              <a:t>18-09-2025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2A416A-7D92-4211-AD23-0968018DD29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evelopers.stellar.org/" TargetMode="External"/><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hyperlink" Target="https://pinata.cloud/" TargetMode="External"/><Relationship Id="rId4" Type="http://schemas.openxmlformats.org/officeDocument/2006/relationships/hyperlink" Target="https://albedo.link/"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3948" y="274024"/>
            <a:ext cx="9773586" cy="1428596"/>
          </a:xfrm>
          <a:prstGeom prst="rect">
            <a:avLst/>
          </a:prstGeom>
        </p:spPr>
        <p:txBody>
          <a:bodyPr vert="horz" wrap="square" lIns="0" tIns="12700" rIns="0" bIns="0" rtlCol="0" anchor="ctr">
            <a:spAutoFit/>
          </a:bodyPr>
          <a:lstStyle/>
          <a:p>
            <a:pPr marL="704850" marR="5080" indent="-692785" algn="ctr">
              <a:lnSpc>
                <a:spcPct val="100000"/>
              </a:lnSpc>
              <a:spcBef>
                <a:spcPts val="100"/>
              </a:spcBef>
            </a:pPr>
            <a:r>
              <a:rPr lang="en-US" sz="2400" b="1" dirty="0">
                <a:latin typeface="Times New Roman" panose="02020603050405020304" pitchFamily="18" charset="0"/>
                <a:cs typeface="Times New Roman" panose="02020603050405020304" pitchFamily="18" charset="0"/>
              </a:rPr>
              <a:t>  MALLA REDDY COLLEGE OF ENGINEERING &amp; TECHNOLOGY</a:t>
            </a:r>
            <a:br>
              <a:rPr lang="en-US" sz="24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(Autonomous Institution – UGC, Govt. of India)</a:t>
            </a:r>
            <a:br>
              <a:rPr lang="en-US" sz="20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DEPARTMENT OF COMPUTER SCIENCE AND ENGINEERING</a:t>
            </a:r>
            <a:endParaRPr sz="20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810630" y="5073847"/>
            <a:ext cx="3210391" cy="1146468"/>
          </a:xfrm>
          <a:prstGeom prst="rect">
            <a:avLst/>
          </a:prstGeom>
        </p:spPr>
        <p:txBody>
          <a:bodyPr vert="horz" wrap="square" lIns="0" tIns="12700" rIns="0" bIns="0" rtlCol="0">
            <a:spAutoFit/>
          </a:bodyPr>
          <a:lstStyle/>
          <a:p>
            <a:pPr marL="12700" marR="5080">
              <a:spcBef>
                <a:spcPts val="100"/>
              </a:spcBef>
            </a:pPr>
            <a:r>
              <a:rPr b="1" spc="-5" dirty="0">
                <a:latin typeface="Times New Roman" panose="02020603050405020304" pitchFamily="18" charset="0"/>
                <a:cs typeface="Times New Roman" panose="02020603050405020304" pitchFamily="18" charset="0"/>
              </a:rPr>
              <a:t>Under the </a:t>
            </a:r>
            <a:r>
              <a:rPr lang="en-IN" b="1" spc="-5" dirty="0">
                <a:latin typeface="Times New Roman" panose="02020603050405020304" pitchFamily="18" charset="0"/>
                <a:cs typeface="Times New Roman" panose="02020603050405020304" pitchFamily="18" charset="0"/>
              </a:rPr>
              <a:t>Guidance</a:t>
            </a:r>
            <a:r>
              <a:rPr b="1" spc="-5" dirty="0">
                <a:latin typeface="Times New Roman" panose="02020603050405020304" pitchFamily="18" charset="0"/>
                <a:cs typeface="Times New Roman" panose="02020603050405020304" pitchFamily="18" charset="0"/>
              </a:rPr>
              <a:t> of </a:t>
            </a:r>
            <a:r>
              <a:rPr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pPr marL="12700" marR="5080">
              <a:spcBef>
                <a:spcPts val="100"/>
              </a:spcBef>
            </a:pPr>
            <a:r>
              <a:rPr lang="en-US" altLang="en-IN" b="1" dirty="0">
                <a:latin typeface="Times New Roman" panose="02020603050405020304" pitchFamily="18" charset="0"/>
                <a:cs typeface="Times New Roman" panose="02020603050405020304" pitchFamily="18" charset="0"/>
              </a:rPr>
              <a:t>Mr. </a:t>
            </a:r>
            <a:r>
              <a:rPr lang="en-US" sz="1800" b="1" kern="0" dirty="0">
                <a:effectLst/>
                <a:latin typeface="Times New Roman" panose="02020603050405020304" pitchFamily="18" charset="0"/>
                <a:ea typeface="Calibri" panose="020F0502020204030204" pitchFamily="34" charset="0"/>
                <a:cs typeface="Times New Roman" panose="02020603050405020304" pitchFamily="18" charset="0"/>
              </a:rPr>
              <a:t>P. Dastagiri Reddy </a:t>
            </a:r>
            <a:r>
              <a:rPr lang="en-US" b="1" dirty="0" err="1"/>
              <a:t>M.tech</a:t>
            </a:r>
            <a:r>
              <a:rPr lang="en-US" b="1" dirty="0"/>
              <a:t>,(</a:t>
            </a:r>
            <a:r>
              <a:rPr lang="en-US" b="1" dirty="0" err="1"/>
              <a:t>Ph.D</a:t>
            </a:r>
            <a:r>
              <a:rPr lang="en-US" b="1" dirty="0"/>
              <a:t>)</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12700" marR="5080">
              <a:spcBef>
                <a:spcPts val="100"/>
              </a:spcBef>
            </a:pPr>
            <a:r>
              <a:rPr lang="en-US" altLang="en-IN" b="1" dirty="0">
                <a:latin typeface="Times New Roman" panose="02020603050405020304" pitchFamily="18" charset="0"/>
                <a:cs typeface="Times New Roman" panose="02020603050405020304" pitchFamily="18" charset="0"/>
              </a:rPr>
              <a:t>Assistant Professor</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4" name="TextBox 3">
            <a:extLst>
              <a:ext uri="{FF2B5EF4-FFF2-40B4-BE49-F238E27FC236}">
                <a16:creationId xmlns:a16="http://schemas.microsoft.com/office/drawing/2014/main" id="{12D4620D-3493-494A-C8CB-5310BEE986F2}"/>
              </a:ext>
            </a:extLst>
          </p:cNvPr>
          <p:cNvSpPr txBox="1"/>
          <p:nvPr/>
        </p:nvSpPr>
        <p:spPr>
          <a:xfrm>
            <a:off x="1" y="2752699"/>
            <a:ext cx="11052334" cy="2321148"/>
          </a:xfrm>
          <a:prstGeom prst="rect">
            <a:avLst/>
          </a:prstGeom>
          <a:noFill/>
        </p:spPr>
        <p:txBody>
          <a:bodyPr wrap="square" rtlCol="0">
            <a:spAutoFit/>
          </a:bodyPr>
          <a:lstStyle/>
          <a:p>
            <a:pPr marL="12700" marR="5080" algn="ctr">
              <a:spcBef>
                <a:spcPts val="100"/>
              </a:spcBef>
            </a:pPr>
            <a:r>
              <a:rPr lang="en-US" sz="4000" b="1"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Secure Visitor Pass Generator Using   Blockchain</a:t>
            </a:r>
          </a:p>
          <a:p>
            <a:pPr marL="12700" marR="5080">
              <a:spcBef>
                <a:spcPts val="100"/>
              </a:spcBef>
            </a:pPr>
            <a:r>
              <a:rPr lang="en-US" sz="2000" b="1" dirty="0">
                <a:latin typeface="Times New Roman" panose="02020603050405020304" pitchFamily="18" charset="0"/>
                <a:cs typeface="Times New Roman" panose="02020603050405020304" pitchFamily="18" charset="0"/>
              </a:rPr>
              <a:t>			</a:t>
            </a:r>
          </a:p>
          <a:p>
            <a:endParaRPr lang="en-IN" sz="2800"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33FCB98-CBA6-A3C5-4269-9948A4DD5A01}"/>
              </a:ext>
            </a:extLst>
          </p:cNvPr>
          <p:cNvSpPr txBox="1"/>
          <p:nvPr/>
        </p:nvSpPr>
        <p:spPr>
          <a:xfrm>
            <a:off x="7482980" y="4908418"/>
            <a:ext cx="4238908" cy="1200329"/>
          </a:xfrm>
          <a:prstGeom prst="rect">
            <a:avLst/>
          </a:prstGeom>
          <a:noFill/>
        </p:spPr>
        <p:txBody>
          <a:bodyPr wrap="square" lIns="91440" tIns="45720" rIns="91440" bIns="45720" rtlCol="0" anchor="t">
            <a:spAutoFit/>
          </a:bodyPr>
          <a:lstStyle/>
          <a:p>
            <a:r>
              <a:rPr lang="en-US" b="1" u="sng" dirty="0">
                <a:latin typeface="Times New Roman" panose="02020603050405020304" pitchFamily="18" charset="0"/>
                <a:cs typeface="Times New Roman" panose="02020603050405020304" pitchFamily="18" charset="0"/>
              </a:rPr>
              <a:t>Team – C2</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 Yuva Akhil -22N31A05G9</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 Bhargava sai-22N31A05J9</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M. Irfan -22N31A05E0</a:t>
            </a:r>
            <a:endParaRPr lang="en-IN"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4400" b="1" spc="-60" dirty="0">
                <a:latin typeface="Times New Roman" panose="02020603050405020304" pitchFamily="18" charset="0"/>
                <a:cs typeface="Times New Roman" panose="02020603050405020304" pitchFamily="18" charset="0"/>
              </a:rPr>
              <a:t>A</a:t>
            </a:r>
            <a:r>
              <a:rPr lang="en-IN" sz="4400" b="1" spc="-5" dirty="0">
                <a:latin typeface="Times New Roman" panose="02020603050405020304" pitchFamily="18" charset="0"/>
                <a:cs typeface="Times New Roman" panose="02020603050405020304" pitchFamily="18" charset="0"/>
              </a:rPr>
              <a:t>GEN</a:t>
            </a:r>
            <a:r>
              <a:rPr lang="en-IN" sz="4400" b="1" spc="-105" dirty="0">
                <a:latin typeface="Times New Roman" panose="02020603050405020304" pitchFamily="18" charset="0"/>
                <a:cs typeface="Times New Roman" panose="02020603050405020304" pitchFamily="18" charset="0"/>
              </a:rPr>
              <a:t>D</a:t>
            </a:r>
            <a:r>
              <a:rPr lang="en-IN" sz="4400" b="1" dirty="0">
                <a:latin typeface="Times New Roman" panose="02020603050405020304" pitchFamily="18" charset="0"/>
                <a:cs typeface="Times New Roman" panose="02020603050405020304" pitchFamily="18" charset="0"/>
              </a:rPr>
              <a:t>A</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38868" y="1621878"/>
            <a:ext cx="10515600" cy="5236121"/>
          </a:xfrm>
        </p:spPr>
        <p:txBody>
          <a:bodyPr>
            <a:normAutofit fontScale="85000" lnSpcReduction="20000"/>
          </a:bodyPr>
          <a:lstStyle/>
          <a:p>
            <a:pPr lvl="0"/>
            <a:r>
              <a:rPr lang="en-US" dirty="0">
                <a:latin typeface="Times New Roman" panose="02020603050405020304" pitchFamily="18" charset="0"/>
                <a:cs typeface="Times New Roman" panose="02020603050405020304" pitchFamily="18" charset="0"/>
              </a:rPr>
              <a:t>Abstract</a:t>
            </a:r>
          </a:p>
          <a:p>
            <a:pPr lvl="0"/>
            <a:r>
              <a:rPr lang="en-US" dirty="0">
                <a:latin typeface="Times New Roman" panose="02020603050405020304" pitchFamily="18" charset="0"/>
                <a:cs typeface="Times New Roman" panose="02020603050405020304" pitchFamily="18" charset="0"/>
              </a:rPr>
              <a:t>Introduction</a:t>
            </a:r>
          </a:p>
          <a:p>
            <a:pPr lvl="0"/>
            <a:r>
              <a:rPr lang="en-US" dirty="0">
                <a:latin typeface="Times New Roman" panose="02020603050405020304" pitchFamily="18" charset="0"/>
                <a:cs typeface="Times New Roman" panose="02020603050405020304" pitchFamily="18" charset="0"/>
              </a:rPr>
              <a:t>Existing system</a:t>
            </a:r>
          </a:p>
          <a:p>
            <a:pPr lvl="0"/>
            <a:r>
              <a:rPr lang="en-US" dirty="0">
                <a:latin typeface="Times New Roman" panose="02020603050405020304" pitchFamily="18" charset="0"/>
                <a:cs typeface="Times New Roman" panose="02020603050405020304" pitchFamily="18" charset="0"/>
              </a:rPr>
              <a:t>Proposed system</a:t>
            </a:r>
          </a:p>
          <a:p>
            <a:pPr lvl="0"/>
            <a:r>
              <a:rPr lang="en-US" dirty="0">
                <a:latin typeface="Times New Roman" panose="02020603050405020304" pitchFamily="18" charset="0"/>
                <a:cs typeface="Times New Roman" panose="02020603050405020304" pitchFamily="18" charset="0"/>
              </a:rPr>
              <a:t>Software and Hardware Requirements</a:t>
            </a:r>
          </a:p>
          <a:p>
            <a:pPr lvl="0"/>
            <a:r>
              <a:rPr lang="en-US" dirty="0">
                <a:latin typeface="Times New Roman" panose="02020603050405020304" pitchFamily="18" charset="0"/>
                <a:cs typeface="Times New Roman" panose="02020603050405020304" pitchFamily="18" charset="0"/>
              </a:rPr>
              <a:t>Literature survey</a:t>
            </a:r>
          </a:p>
          <a:p>
            <a:pPr lvl="0"/>
            <a:r>
              <a:rPr lang="en-US" dirty="0">
                <a:latin typeface="Times New Roman" panose="02020603050405020304" pitchFamily="18" charset="0"/>
                <a:cs typeface="Times New Roman" panose="02020603050405020304" pitchFamily="18" charset="0"/>
              </a:rPr>
              <a:t>UML Diagrams</a:t>
            </a:r>
          </a:p>
          <a:p>
            <a:pPr lvl="0"/>
            <a:r>
              <a:rPr lang="en-US" dirty="0">
                <a:latin typeface="Times New Roman" panose="02020603050405020304" pitchFamily="18" charset="0"/>
                <a:cs typeface="Times New Roman" panose="02020603050405020304" pitchFamily="18" charset="0"/>
              </a:rPr>
              <a:t>Technologies</a:t>
            </a:r>
          </a:p>
          <a:p>
            <a:r>
              <a:rPr lang="en-US" dirty="0">
                <a:latin typeface="Times New Roman" panose="02020603050405020304" pitchFamily="18" charset="0"/>
                <a:cs typeface="Times New Roman" panose="02020603050405020304" pitchFamily="18" charset="0"/>
              </a:rPr>
              <a:t>Modules Explanation</a:t>
            </a:r>
          </a:p>
          <a:p>
            <a:pPr lvl="0"/>
            <a:r>
              <a:rPr lang="en-US" dirty="0">
                <a:latin typeface="Times New Roman" panose="02020603050405020304" pitchFamily="18" charset="0"/>
                <a:cs typeface="Times New Roman" panose="02020603050405020304" pitchFamily="18" charset="0"/>
              </a:rPr>
              <a:t>Output screens</a:t>
            </a:r>
          </a:p>
          <a:p>
            <a:pPr lvl="0"/>
            <a:r>
              <a:rPr lang="en-US" dirty="0">
                <a:latin typeface="Times New Roman" panose="02020603050405020304" pitchFamily="18" charset="0"/>
                <a:cs typeface="Times New Roman" panose="02020603050405020304" pitchFamily="18" charset="0"/>
              </a:rPr>
              <a:t>Conclusion</a:t>
            </a:r>
          </a:p>
          <a:p>
            <a:pPr lvl="0"/>
            <a:r>
              <a:rPr lang="en-US" dirty="0">
                <a:latin typeface="Times New Roman" panose="02020603050405020304" pitchFamily="18" charset="0"/>
                <a:cs typeface="Times New Roman" panose="02020603050405020304" pitchFamily="18" charset="0"/>
              </a:rPr>
              <a:t>Future scope</a:t>
            </a:r>
          </a:p>
          <a:p>
            <a:pPr lvl="0"/>
            <a:r>
              <a:rPr lang="en-US" dirty="0">
                <a:latin typeface="Times New Roman" panose="02020603050405020304" pitchFamily="18" charset="0"/>
                <a:cs typeface="Times New Roman" panose="02020603050405020304" pitchFamily="18" charset="0"/>
              </a:rPr>
              <a:t>References</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24915"/>
          </a:xfrm>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Abstract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7" name="Rectangle 2">
            <a:extLst>
              <a:ext uri="{FF2B5EF4-FFF2-40B4-BE49-F238E27FC236}">
                <a16:creationId xmlns:a16="http://schemas.microsoft.com/office/drawing/2014/main" id="{E0A887B1-C0EA-AFC6-70A6-F64E96A67472}"/>
              </a:ext>
            </a:extLst>
          </p:cNvPr>
          <p:cNvSpPr>
            <a:spLocks noGrp="1" noChangeArrowheads="1"/>
          </p:cNvSpPr>
          <p:nvPr>
            <p:ph idx="1"/>
          </p:nvPr>
        </p:nvSpPr>
        <p:spPr bwMode="auto">
          <a:xfrm>
            <a:off x="838200" y="1610511"/>
            <a:ext cx="105156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proposes a secure digital gate pass system leveraging Optical Character Recognition (OCR) and blockchain technology to modernize visitor management. The application allows users to upload an ID card image, from which visitor details such as name, ID number, and photo are automatically extracted using OCR. These details are verified and recorded as a secure transaction on a decentralized blockchain ledger via a connected digital wallet. The system then generates a tamper-proof gate pass featuring a unique ID, QR code, and verifiable transaction reference. This enhances transparency, reduces the risk of forgery, and streamlines gate access through an efficient and secure verification process. Key modules include image upload, OCR processing, blockchain logging, gate pass generation, and pass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latin typeface="Times New Roman" panose="02020603050405020304" pitchFamily="18" charset="0"/>
                <a:cs typeface="Times New Roman" panose="02020603050405020304" pitchFamily="18" charset="0"/>
              </a:rPr>
              <a:t>Introduction</a:t>
            </a:r>
          </a:p>
        </p:txBody>
      </p:sp>
      <p:sp>
        <p:nvSpPr>
          <p:cNvPr id="4" name="Title 1"/>
          <p:cNvSpPr>
            <a:spLocks noGrp="1"/>
          </p:cNvSpPr>
          <p:nvPr/>
        </p:nvSpPr>
        <p:spPr>
          <a:xfrm>
            <a:off x="838200" y="365125"/>
            <a:ext cx="10515600" cy="12249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b="0" i="0" dirty="0">
              <a:solidFill>
                <a:srgbClr val="222222"/>
              </a:solidFill>
              <a:effectLst/>
              <a:latin typeface="Arial" panose="020B0604020202020204" pitchFamily="34" charset="0"/>
            </a:endParaRPr>
          </a:p>
        </p:txBody>
      </p:sp>
      <p:sp>
        <p:nvSpPr>
          <p:cNvPr id="5" name="Content Placeholder 2"/>
          <p:cNvSpPr>
            <a:spLocks noGrp="1"/>
          </p:cNvSpPr>
          <p:nvPr/>
        </p:nvSpPr>
        <p:spPr>
          <a:xfrm>
            <a:off x="1064342" y="1855944"/>
            <a:ext cx="10515600" cy="45872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200000"/>
              </a:lnSpc>
              <a:buNone/>
            </a:pPr>
            <a:endParaRPr lang="en-IN" sz="24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14" name="Rectangle 5">
            <a:extLst>
              <a:ext uri="{FF2B5EF4-FFF2-40B4-BE49-F238E27FC236}">
                <a16:creationId xmlns:a16="http://schemas.microsoft.com/office/drawing/2014/main" id="{594A6758-ECA8-676A-6781-0B3945FFE7BB}"/>
              </a:ext>
            </a:extLst>
          </p:cNvPr>
          <p:cNvSpPr>
            <a:spLocks noGrp="1" noChangeArrowheads="1"/>
          </p:cNvSpPr>
          <p:nvPr>
            <p:ph idx="1"/>
          </p:nvPr>
        </p:nvSpPr>
        <p:spPr bwMode="auto">
          <a:xfrm>
            <a:off x="257244" y="1936821"/>
            <a:ext cx="10732974" cy="4334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Secure Visitor Pass System</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Integrates OCR and blockchain for modern, secure visitor management.</a:t>
            </a:r>
          </a:p>
          <a:p>
            <a:r>
              <a:rPr lang="en-IN" sz="2000" b="1" dirty="0">
                <a:latin typeface="Times New Roman" panose="02020603050405020304" pitchFamily="18" charset="0"/>
                <a:cs typeface="Times New Roman" panose="02020603050405020304" pitchFamily="18" charset="0"/>
              </a:rPr>
              <a:t>Automated ID Processing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Extracts visitor details like name, ID number, and photo using OCR from uploaded ID cards.</a:t>
            </a:r>
          </a:p>
          <a:p>
            <a:r>
              <a:rPr lang="en-IN" sz="2000" b="1" dirty="0">
                <a:latin typeface="Times New Roman" panose="02020603050405020304" pitchFamily="18" charset="0"/>
                <a:cs typeface="Times New Roman" panose="02020603050405020304" pitchFamily="18" charset="0"/>
              </a:rPr>
              <a:t>Tamper-Proof Data Recording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Records visitor information on a decentralized blockchain ledger for immutability and transparency.</a:t>
            </a:r>
          </a:p>
          <a:p>
            <a:r>
              <a:rPr lang="en-IN" sz="2000" b="1" dirty="0">
                <a:latin typeface="Times New Roman" panose="02020603050405020304" pitchFamily="18" charset="0"/>
                <a:cs typeface="Times New Roman" panose="02020603050405020304" pitchFamily="18" charset="0"/>
              </a:rPr>
              <a:t>QR-Based Gate Pass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Generates a digital pass with unique ID, QR code, and blockchain transaction reference.</a:t>
            </a:r>
          </a:p>
          <a:p>
            <a:r>
              <a:rPr lang="en-IN" sz="2000" b="1" dirty="0">
                <a:latin typeface="Times New Roman" panose="02020603050405020304" pitchFamily="18" charset="0"/>
                <a:cs typeface="Times New Roman" panose="02020603050405020304" pitchFamily="18" charset="0"/>
              </a:rPr>
              <a:t>Real-Time Admin Control</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Admin dashboard for reviewing, approving, and managing digital passes instantly.</a:t>
            </a:r>
          </a:p>
          <a:p>
            <a:r>
              <a:rPr lang="en-IN" sz="2000" b="1" dirty="0">
                <a:latin typeface="Times New Roman" panose="02020603050405020304" pitchFamily="18" charset="0"/>
                <a:cs typeface="Times New Roman" panose="02020603050405020304" pitchFamily="18" charset="0"/>
              </a:rPr>
              <a:t>Improved Security &amp; Verification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Prevents forgery and unauthorized access with digital wallet verification and secure pass generation.</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Existing system</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10" name="AutoShape 2" descr="Intel Core i5 Core 12400F Desktop Processor 18M Cache, up to 4.40 GHz : Buy  Online at Best Price in KSA - Souq is now Amazon.sa: Electronics">
            <a:extLst>
              <a:ext uri="{FF2B5EF4-FFF2-40B4-BE49-F238E27FC236}">
                <a16:creationId xmlns:a16="http://schemas.microsoft.com/office/drawing/2014/main" id="{C9EA7BCD-7F3A-50FF-C195-AB35CB8960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Rectangle 9">
            <a:extLst>
              <a:ext uri="{FF2B5EF4-FFF2-40B4-BE49-F238E27FC236}">
                <a16:creationId xmlns:a16="http://schemas.microsoft.com/office/drawing/2014/main" id="{D7F7A17C-E497-C605-CBA6-7D7A4665C1B5}"/>
              </a:ext>
            </a:extLst>
          </p:cNvPr>
          <p:cNvSpPr>
            <a:spLocks noChangeArrowheads="1"/>
          </p:cNvSpPr>
          <p:nvPr/>
        </p:nvSpPr>
        <p:spPr bwMode="auto">
          <a:xfrm>
            <a:off x="457404" y="1524883"/>
            <a:ext cx="11884269"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Manual Visitor Entry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Visitors are registered using handwritten logbooks or simple spreadsheets.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Prone to data entry errors, delays, and difficult record retrieval.</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No Digital Verification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Security personnel rely on visual inspection of physical IDs.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No real-time cross-verification or authenticity check.</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Easy to Forge or Misuse Passes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Paper passes can be easily duplicated, tampered with, or reused.</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Lack of unique identifiers or secure reference codes.</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No Blockchain or Immutable Logs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Visitor data is stored in unprotected formats.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No tamper-proof audit trail or reliable digital backup.</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Limited Admin Control</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Gate pass review, revocation, or monitoring must be done manually.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No centralized interface for tracking or verification.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14" name="AutoShape 2" descr="Intel Core i5 Core 12400F Desktop Processor 18M Cache, up to 4.40 GHz : Buy  Online at Best Price in KSA - Souq is now Amazon.sa: Electronics">
            <a:extLst>
              <a:ext uri="{FF2B5EF4-FFF2-40B4-BE49-F238E27FC236}">
                <a16:creationId xmlns:a16="http://schemas.microsoft.com/office/drawing/2014/main" id="{281E92A4-FD14-39F6-C3F1-4D14347AF4F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 name="Rectangle 1">
            <a:extLst>
              <a:ext uri="{FF2B5EF4-FFF2-40B4-BE49-F238E27FC236}">
                <a16:creationId xmlns:a16="http://schemas.microsoft.com/office/drawing/2014/main" id="{7C75F2E4-F5FD-037A-E424-EF55645EFFA9}"/>
              </a:ext>
            </a:extLst>
          </p:cNvPr>
          <p:cNvSpPr>
            <a:spLocks noChangeArrowheads="1"/>
          </p:cNvSpPr>
          <p:nvPr/>
        </p:nvSpPr>
        <p:spPr bwMode="auto">
          <a:xfrm>
            <a:off x="810630" y="1608517"/>
            <a:ext cx="1191944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Smart Visitor Entry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Visitor uploads official ID card image via web interface.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OCR technology extracts name, ID number, and photo instantly.</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Secure Identity Verification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Visitor connects to </a:t>
            </a:r>
            <a:r>
              <a:rPr lang="en-US" sz="2200" b="1" dirty="0">
                <a:latin typeface="Times New Roman" panose="02020603050405020304" pitchFamily="18" charset="0"/>
                <a:cs typeface="Times New Roman" panose="02020603050405020304" pitchFamily="18" charset="0"/>
              </a:rPr>
              <a:t>Albedo Wallet</a:t>
            </a:r>
            <a:r>
              <a:rPr lang="en-US" sz="2200" dirty="0">
                <a:latin typeface="Times New Roman" panose="02020603050405020304" pitchFamily="18" charset="0"/>
                <a:cs typeface="Times New Roman" panose="02020603050405020304" pitchFamily="18" charset="0"/>
              </a:rPr>
              <a:t> for secure digital signing.</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Authenticates data and initiates blockchain transaction.</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Blockchain-Enabled Pass Generation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Visitor details are recorded on the Stellar blockchain.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Tamper-proof and verifiable using transaction hash.</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QR-Based Gate Pass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digital pass is generated with unique ID and QR code.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Security staff can instantly verify using a scanner.</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Improved Efficiency and Security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Fully digitized and decentralized solution with cryptographic protection.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Reduces fraud risk, improves transparency, and speeds up entry process.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7E8438E-F21C-C397-2E0F-62F4A233AB1E}"/>
              </a:ext>
            </a:extLst>
          </p:cNvPr>
          <p:cNvSpPr>
            <a:spLocks noGrp="1"/>
          </p:cNvSpPr>
          <p:nvPr>
            <p:ph type="title"/>
          </p:nvPr>
        </p:nvSpPr>
        <p:spPr>
          <a:xfrm>
            <a:off x="838200" y="365125"/>
            <a:ext cx="10515600" cy="1325563"/>
          </a:xfrm>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Software Requirements</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731554F-6889-18E3-C741-7CC101439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813" y="106080"/>
            <a:ext cx="1106774" cy="1256754"/>
          </a:xfrm>
          <a:prstGeom prst="rect">
            <a:avLst/>
          </a:prstGeom>
        </p:spPr>
      </p:pic>
      <p:sp>
        <p:nvSpPr>
          <p:cNvPr id="10" name="TextBox 9">
            <a:extLst>
              <a:ext uri="{FF2B5EF4-FFF2-40B4-BE49-F238E27FC236}">
                <a16:creationId xmlns:a16="http://schemas.microsoft.com/office/drawing/2014/main" id="{0F5CA9D2-C661-88FF-19EF-C0065ED73969}"/>
              </a:ext>
            </a:extLst>
          </p:cNvPr>
          <p:cNvSpPr txBox="1"/>
          <p:nvPr/>
        </p:nvSpPr>
        <p:spPr>
          <a:xfrm>
            <a:off x="733096" y="1949733"/>
            <a:ext cx="11250593" cy="4708981"/>
          </a:xfrm>
          <a:prstGeom prst="rect">
            <a:avLst/>
          </a:prstGeom>
          <a:noFill/>
        </p:spPr>
        <p:txBody>
          <a:bodyPr wrap="square" rtlCol="0">
            <a:spAutoFit/>
          </a:bodyPr>
          <a:lstStyle/>
          <a:p>
            <a:pPr marL="285750" indent="-28575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Backend Framework:</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Node.js with Express.js – JavaScript backend for building APIs and blockchain integration</a:t>
            </a:r>
          </a:p>
          <a:p>
            <a:pPr marL="285750" indent="-28575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OCR Engine: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Tesseract.js – For extracting visitor details from uploaded ID images</a:t>
            </a:r>
          </a:p>
          <a:p>
            <a:pPr marL="285750" indent="-28575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Blockchain &amp; Wallet Integration: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Stellar Blockchain + Albedo Wallet – For secure, verifiable, and decentralized visitor logging</a:t>
            </a:r>
          </a:p>
          <a:p>
            <a:pPr marL="285750" indent="-28575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Decentralized Storage: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Pinata with IPFS – For securely storing ID images and accessing them via IPFS hashes</a:t>
            </a:r>
          </a:p>
          <a:p>
            <a:pPr marL="285750" indent="-28575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Frontend Framework:</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React.js and TypeScript – For building responsive and interactive UI</a:t>
            </a:r>
          </a:p>
          <a:p>
            <a:pPr marL="285750" indent="-28575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Development Tools: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Node.js 18+, </a:t>
            </a:r>
            <a:r>
              <a:rPr lang="en-IN" sz="2000" dirty="0" err="1">
                <a:latin typeface="Times New Roman" panose="02020603050405020304" pitchFamily="18" charset="0"/>
                <a:cs typeface="Times New Roman" panose="02020603050405020304" pitchFamily="18" charset="0"/>
              </a:rPr>
              <a:t>npm</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IDE/Text Editor:</a:t>
            </a:r>
            <a:r>
              <a:rPr lang="en-IN" sz="2000" dirty="0">
                <a:latin typeface="Times New Roman" panose="02020603050405020304" pitchFamily="18" charset="0"/>
                <a:cs typeface="Times New Roman" panose="02020603050405020304" pitchFamily="18" charset="0"/>
              </a:rPr>
              <a:t> Visual Studio Code</a:t>
            </a:r>
          </a:p>
          <a:p>
            <a:pPr marL="285750" indent="-28575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Version Control:</a:t>
            </a:r>
            <a:r>
              <a:rPr lang="en-IN" sz="2000" dirty="0">
                <a:latin typeface="Times New Roman" panose="02020603050405020304" pitchFamily="18" charset="0"/>
                <a:cs typeface="Times New Roman" panose="02020603050405020304" pitchFamily="18" charset="0"/>
              </a:rPr>
              <a:t> GitHub</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656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8ECA26E-2908-8D67-425E-7C822BB99621}"/>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dirty="0"/>
          </a:p>
        </p:txBody>
      </p:sp>
      <p:sp>
        <p:nvSpPr>
          <p:cNvPr id="5" name="Content Placeholder 2">
            <a:extLst>
              <a:ext uri="{FF2B5EF4-FFF2-40B4-BE49-F238E27FC236}">
                <a16:creationId xmlns:a16="http://schemas.microsoft.com/office/drawing/2014/main" id="{257C9328-F823-AB98-CFAC-7C08C2F95FFF}"/>
              </a:ext>
            </a:extLst>
          </p:cNvPr>
          <p:cNvSpPr txBox="1">
            <a:spLocks/>
          </p:cNvSpPr>
          <p:nvPr/>
        </p:nvSpPr>
        <p:spPr>
          <a:xfrm>
            <a:off x="553720" y="1988185"/>
            <a:ext cx="5201285" cy="4189095"/>
          </a:xfrm>
          <a:prstGeom prst="rect">
            <a:avLst/>
          </a:prstGeom>
          <a:ln>
            <a:no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60000"/>
              </a:lnSpc>
              <a:buNone/>
            </a:pPr>
            <a:endParaRPr lang="en-IN" sz="1800" dirty="0">
              <a:latin typeface="Times New Roman" panose="02020603050405020304" pitchFamily="18" charset="0"/>
              <a:cs typeface="Times New Roman" panose="02020603050405020304" pitchFamily="18" charset="0"/>
            </a:endParaRPr>
          </a:p>
        </p:txBody>
      </p:sp>
      <p:sp>
        <p:nvSpPr>
          <p:cNvPr id="6" name="Content Placeholder 4">
            <a:extLst>
              <a:ext uri="{FF2B5EF4-FFF2-40B4-BE49-F238E27FC236}">
                <a16:creationId xmlns:a16="http://schemas.microsoft.com/office/drawing/2014/main" id="{0882B4E9-1C3D-D122-3D63-DEE4B7D26FAA}"/>
              </a:ext>
            </a:extLst>
          </p:cNvPr>
          <p:cNvSpPr txBox="1">
            <a:spLocks/>
          </p:cNvSpPr>
          <p:nvPr/>
        </p:nvSpPr>
        <p:spPr>
          <a:xfrm>
            <a:off x="6172200" y="1825625"/>
            <a:ext cx="5181600" cy="4351655"/>
          </a:xfrm>
          <a:prstGeom prst="rect">
            <a:avLst/>
          </a:prstGeom>
        </p:spPr>
        <p:txBody>
          <a:bodyPr>
            <a:normAutofit fontScale="97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60000"/>
              </a:lnSpc>
              <a:buNone/>
            </a:pPr>
            <a:endParaRPr lang="en-US" sz="20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01AB0D80-BB1F-F919-497D-A4B5AE46864D}"/>
              </a:ext>
            </a:extLst>
          </p:cNvPr>
          <p:cNvSpPr txBox="1">
            <a:spLocks/>
          </p:cNvSpPr>
          <p:nvPr/>
        </p:nvSpPr>
        <p:spPr>
          <a:xfrm>
            <a:off x="762001" y="53038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solidFill>
                  <a:srgbClr val="222222"/>
                </a:solidFill>
                <a:latin typeface="Times New Roman" panose="02020603050405020304" pitchFamily="18" charset="0"/>
                <a:cs typeface="Times New Roman" panose="02020603050405020304" pitchFamily="18" charset="0"/>
              </a:rPr>
              <a:t>Hardware Requirements</a:t>
            </a:r>
            <a:endParaRPr lang="en-IN" b="1" dirty="0">
              <a:latin typeface="Times New Roman" panose="02020603050405020304"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69305ECF-594E-A338-26B3-E012210D4D38}"/>
              </a:ext>
            </a:extLst>
          </p:cNvPr>
          <p:cNvSpPr txBox="1">
            <a:spLocks/>
          </p:cNvSpPr>
          <p:nvPr/>
        </p:nvSpPr>
        <p:spPr>
          <a:xfrm>
            <a:off x="553720" y="1988185"/>
            <a:ext cx="5201285" cy="4189095"/>
          </a:xfrm>
          <a:prstGeom prst="rect">
            <a:avLst/>
          </a:prstGeom>
          <a:ln>
            <a:no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60000"/>
              </a:lnSpc>
              <a:buNone/>
            </a:pPr>
            <a:endParaRPr lang="en-IN" sz="1800" dirty="0">
              <a:latin typeface="Times New Roman" panose="02020603050405020304" pitchFamily="18" charset="0"/>
              <a:cs typeface="Times New Roman" panose="02020603050405020304" pitchFamily="18" charset="0"/>
            </a:endParaRPr>
          </a:p>
        </p:txBody>
      </p:sp>
      <p:sp>
        <p:nvSpPr>
          <p:cNvPr id="9" name="Content Placeholder 4">
            <a:extLst>
              <a:ext uri="{FF2B5EF4-FFF2-40B4-BE49-F238E27FC236}">
                <a16:creationId xmlns:a16="http://schemas.microsoft.com/office/drawing/2014/main" id="{612472C1-E462-49EF-DAEC-9A6C04B1E264}"/>
              </a:ext>
            </a:extLst>
          </p:cNvPr>
          <p:cNvSpPr txBox="1">
            <a:spLocks/>
          </p:cNvSpPr>
          <p:nvPr/>
        </p:nvSpPr>
        <p:spPr>
          <a:xfrm>
            <a:off x="6172200" y="1825625"/>
            <a:ext cx="5181600" cy="4351655"/>
          </a:xfrm>
          <a:prstGeom prst="rect">
            <a:avLst/>
          </a:prstGeom>
        </p:spPr>
        <p:txBody>
          <a:bodyPr>
            <a:normAutofit fontScale="97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60000"/>
              </a:lnSpc>
              <a:buNone/>
            </a:pPr>
            <a:endParaRPr lang="en-US"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DADE74B-3BE0-EFE9-7C32-42D567AAB5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11" name="TextBox 10">
            <a:extLst>
              <a:ext uri="{FF2B5EF4-FFF2-40B4-BE49-F238E27FC236}">
                <a16:creationId xmlns:a16="http://schemas.microsoft.com/office/drawing/2014/main" id="{98F8654E-CCFC-84DE-26DD-248285140F20}"/>
              </a:ext>
            </a:extLst>
          </p:cNvPr>
          <p:cNvSpPr txBox="1"/>
          <p:nvPr/>
        </p:nvSpPr>
        <p:spPr>
          <a:xfrm>
            <a:off x="1238233" y="1621879"/>
            <a:ext cx="8418288" cy="2554545"/>
          </a:xfrm>
          <a:prstGeom prst="rect">
            <a:avLst/>
          </a:prstGeom>
          <a:noFill/>
        </p:spPr>
        <p:txBody>
          <a:bodyPr wrap="square" lIns="91440" tIns="45720" rIns="91440" bIns="45720" rtlCol="0" anchor="t">
            <a:spAutoFit/>
          </a:bodyPr>
          <a:lstStyle/>
          <a:p>
            <a:pPr marL="285750" indent="-28575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Development Machine</a:t>
            </a:r>
            <a:r>
              <a:rPr lang="en-IN" sz="2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Processor: Intel i5 or higher (or equivalent AMD).</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RAM: Minimum 8 GB (16 GB recommended for model training).</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Storage: At least 25 GB (SSD preferred for faster data handling).</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Additional Hardware</a:t>
            </a:r>
            <a:r>
              <a:rPr lang="en-IN" sz="2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Camera(</a:t>
            </a:r>
            <a:r>
              <a:rPr lang="en-US" sz="2000" dirty="0">
                <a:latin typeface="Times New Roman" panose="02020603050405020304" pitchFamily="18" charset="0"/>
                <a:cs typeface="Times New Roman" panose="02020603050405020304" pitchFamily="18" charset="0"/>
              </a:rPr>
              <a:t>Webcam or smartphone camera for capturing ID images during field use)</a:t>
            </a:r>
            <a:endParaRPr lang="en-IN" altLang="en-US" sz="32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31A7DEA4-CE89-2D99-DF0A-C51F4B94996F}"/>
              </a:ext>
            </a:extLst>
          </p:cNvPr>
          <p:cNvPicPr>
            <a:picLocks noChangeAspect="1"/>
          </p:cNvPicPr>
          <p:nvPr/>
        </p:nvPicPr>
        <p:blipFill>
          <a:blip r:embed="rId3"/>
          <a:stretch>
            <a:fillRect/>
          </a:stretch>
        </p:blipFill>
        <p:spPr>
          <a:xfrm>
            <a:off x="9748200" y="4842902"/>
            <a:ext cx="1881543" cy="1824678"/>
          </a:xfrm>
          <a:prstGeom prst="rect">
            <a:avLst/>
          </a:prstGeom>
        </p:spPr>
      </p:pic>
      <p:pic>
        <p:nvPicPr>
          <p:cNvPr id="13" name="Picture 12">
            <a:extLst>
              <a:ext uri="{FF2B5EF4-FFF2-40B4-BE49-F238E27FC236}">
                <a16:creationId xmlns:a16="http://schemas.microsoft.com/office/drawing/2014/main" id="{1A4585DD-F09E-8283-B355-0FC6F5160165}"/>
              </a:ext>
            </a:extLst>
          </p:cNvPr>
          <p:cNvPicPr>
            <a:picLocks noChangeAspect="1"/>
          </p:cNvPicPr>
          <p:nvPr/>
        </p:nvPicPr>
        <p:blipFill>
          <a:blip r:embed="rId4"/>
          <a:stretch>
            <a:fillRect/>
          </a:stretch>
        </p:blipFill>
        <p:spPr>
          <a:xfrm>
            <a:off x="4293872" y="4842902"/>
            <a:ext cx="2143125" cy="1846943"/>
          </a:xfrm>
          <a:prstGeom prst="rect">
            <a:avLst/>
          </a:prstGeom>
        </p:spPr>
      </p:pic>
      <p:pic>
        <p:nvPicPr>
          <p:cNvPr id="14" name="Picture 13" descr="A logo on a gray background&#10;&#10;Description automatically generated">
            <a:extLst>
              <a:ext uri="{FF2B5EF4-FFF2-40B4-BE49-F238E27FC236}">
                <a16:creationId xmlns:a16="http://schemas.microsoft.com/office/drawing/2014/main" id="{E567BD46-FDB5-40FB-2897-1FEE9209640B}"/>
              </a:ext>
            </a:extLst>
          </p:cNvPr>
          <p:cNvPicPr>
            <a:picLocks noChangeAspect="1"/>
          </p:cNvPicPr>
          <p:nvPr/>
        </p:nvPicPr>
        <p:blipFill>
          <a:blip r:embed="rId5"/>
          <a:stretch>
            <a:fillRect/>
          </a:stretch>
        </p:blipFill>
        <p:spPr>
          <a:xfrm>
            <a:off x="553720" y="4966985"/>
            <a:ext cx="1858371" cy="1598779"/>
          </a:xfrm>
          <a:prstGeom prst="rect">
            <a:avLst/>
          </a:prstGeom>
        </p:spPr>
      </p:pic>
    </p:spTree>
    <p:extLst>
      <p:ext uri="{BB962C8B-B14F-4D97-AF65-F5344CB8AC3E}">
        <p14:creationId xmlns:p14="http://schemas.microsoft.com/office/powerpoint/2010/main" val="3505901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F87495-0F58-570A-29DF-F01A08C20088}"/>
              </a:ext>
            </a:extLst>
          </p:cNvPr>
          <p:cNvSpPr>
            <a:spLocks noGrp="1"/>
          </p:cNvSpPr>
          <p:nvPr/>
        </p:nvSpPr>
        <p:spPr>
          <a:xfrm>
            <a:off x="810630" y="175852"/>
            <a:ext cx="10515600" cy="10914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i="0" dirty="0">
                <a:solidFill>
                  <a:srgbClr val="222222"/>
                </a:solidFill>
                <a:effectLst/>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4495139-A4A1-BAD1-3063-F78A74453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75852"/>
            <a:ext cx="1106774" cy="1091498"/>
          </a:xfrm>
          <a:prstGeom prst="rect">
            <a:avLst/>
          </a:prstGeom>
        </p:spPr>
      </p:pic>
      <p:sp>
        <p:nvSpPr>
          <p:cNvPr id="7" name="TextBox 10">
            <a:extLst>
              <a:ext uri="{FF2B5EF4-FFF2-40B4-BE49-F238E27FC236}">
                <a16:creationId xmlns:a16="http://schemas.microsoft.com/office/drawing/2014/main" id="{0D4D0B74-97C7-A782-37B7-78891562A67E}"/>
              </a:ext>
            </a:extLst>
          </p:cNvPr>
          <p:cNvSpPr txBox="1"/>
          <p:nvPr/>
        </p:nvSpPr>
        <p:spPr>
          <a:xfrm>
            <a:off x="4053673" y="1828706"/>
            <a:ext cx="27432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b="1" dirty="0">
                <a:solidFill>
                  <a:srgbClr val="FFFFFF"/>
                </a:solidFill>
                <a:latin typeface="Calibri"/>
              </a:rPr>
              <a:t>Title of the paper</a:t>
            </a:r>
          </a:p>
        </p:txBody>
      </p:sp>
      <p:sp>
        <p:nvSpPr>
          <p:cNvPr id="8" name="TextBox 13">
            <a:extLst>
              <a:ext uri="{FF2B5EF4-FFF2-40B4-BE49-F238E27FC236}">
                <a16:creationId xmlns:a16="http://schemas.microsoft.com/office/drawing/2014/main" id="{4F02D2E9-1FAF-3BAF-5933-A13DFFFDB36A}"/>
              </a:ext>
            </a:extLst>
          </p:cNvPr>
          <p:cNvSpPr txBox="1"/>
          <p:nvPr/>
        </p:nvSpPr>
        <p:spPr>
          <a:xfrm>
            <a:off x="7810416" y="1828706"/>
            <a:ext cx="27432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latin typeface="Calibri"/>
              </a:rPr>
              <a:t>Outcome</a:t>
            </a:r>
            <a:endParaRPr lang="en-US" b="1" dirty="0">
              <a:solidFill>
                <a:schemeClr val="bg1"/>
              </a:solidFill>
              <a:latin typeface="Calibri"/>
              <a:ea typeface="Calibri"/>
              <a:cs typeface="Calibri"/>
            </a:endParaRPr>
          </a:p>
        </p:txBody>
      </p:sp>
      <p:graphicFrame>
        <p:nvGraphicFramePr>
          <p:cNvPr id="9" name="Table 8">
            <a:extLst>
              <a:ext uri="{FF2B5EF4-FFF2-40B4-BE49-F238E27FC236}">
                <a16:creationId xmlns:a16="http://schemas.microsoft.com/office/drawing/2014/main" id="{D37BA9FF-6349-98B5-AD4C-8CF2F4B0EEC7}"/>
              </a:ext>
            </a:extLst>
          </p:cNvPr>
          <p:cNvGraphicFramePr>
            <a:graphicFrameLocks noGrp="1"/>
          </p:cNvGraphicFramePr>
          <p:nvPr>
            <p:extLst>
              <p:ext uri="{D42A27DB-BD31-4B8C-83A1-F6EECF244321}">
                <p14:modId xmlns:p14="http://schemas.microsoft.com/office/powerpoint/2010/main" val="768665720"/>
              </p:ext>
            </p:extLst>
          </p:nvPr>
        </p:nvGraphicFramePr>
        <p:xfrm>
          <a:off x="166358" y="1602673"/>
          <a:ext cx="11859284" cy="5103493"/>
        </p:xfrm>
        <a:graphic>
          <a:graphicData uri="http://schemas.openxmlformats.org/drawingml/2006/table">
            <a:tbl>
              <a:tblPr firstRow="1" bandRow="1">
                <a:tableStyleId>{073A0DAA-6AF3-43AB-8588-CEC1D06C72B9}</a:tableStyleId>
              </a:tblPr>
              <a:tblGrid>
                <a:gridCol w="825546">
                  <a:extLst>
                    <a:ext uri="{9D8B030D-6E8A-4147-A177-3AD203B41FA5}">
                      <a16:colId xmlns:a16="http://schemas.microsoft.com/office/drawing/2014/main" val="2573132532"/>
                    </a:ext>
                  </a:extLst>
                </a:gridCol>
                <a:gridCol w="3017388">
                  <a:extLst>
                    <a:ext uri="{9D8B030D-6E8A-4147-A177-3AD203B41FA5}">
                      <a16:colId xmlns:a16="http://schemas.microsoft.com/office/drawing/2014/main" val="3568299169"/>
                    </a:ext>
                  </a:extLst>
                </a:gridCol>
                <a:gridCol w="2927839">
                  <a:extLst>
                    <a:ext uri="{9D8B030D-6E8A-4147-A177-3AD203B41FA5}">
                      <a16:colId xmlns:a16="http://schemas.microsoft.com/office/drawing/2014/main" val="1850379899"/>
                    </a:ext>
                  </a:extLst>
                </a:gridCol>
                <a:gridCol w="5088511">
                  <a:extLst>
                    <a:ext uri="{9D8B030D-6E8A-4147-A177-3AD203B41FA5}">
                      <a16:colId xmlns:a16="http://schemas.microsoft.com/office/drawing/2014/main" val="1733292758"/>
                    </a:ext>
                  </a:extLst>
                </a:gridCol>
              </a:tblGrid>
              <a:tr h="978375">
                <a:tc>
                  <a:txBody>
                    <a:bodyPr/>
                    <a:lstStyle/>
                    <a:p>
                      <a:pPr algn="just"/>
                      <a:endParaRPr lang="en-US" dirty="0"/>
                    </a:p>
                    <a:p>
                      <a:pPr algn="just"/>
                      <a:r>
                        <a:rPr lang="en-US" dirty="0"/>
                        <a:t>S.no.</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solidFill>
                          <a:schemeClr val="bg1"/>
                        </a:solidFill>
                        <a:latin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chemeClr val="bg1"/>
                          </a:solidFill>
                          <a:latin typeface="Calibri"/>
                        </a:rPr>
                        <a:t>   Author(s) &amp; Journal Details</a:t>
                      </a:r>
                      <a:endParaRPr lang="en-IN" b="1" dirty="0">
                        <a:solidFill>
                          <a:schemeClr val="bg1"/>
                        </a:solidFill>
                        <a:latin typeface="Calibri"/>
                        <a:ea typeface="Calibri"/>
                        <a:cs typeface="Calibri"/>
                      </a:endParaRPr>
                    </a:p>
                    <a:p>
                      <a:endParaRPr lang="en-IN" dirty="0"/>
                    </a:p>
                  </a:txBody>
                  <a:tcPr/>
                </a:tc>
                <a:tc>
                  <a:txBody>
                    <a:bodyPr/>
                    <a:lstStyle/>
                    <a:p>
                      <a:endParaRPr lang="en-IN" dirty="0"/>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85280702"/>
                  </a:ext>
                </a:extLst>
              </a:tr>
              <a:tr h="1271888">
                <a:tc>
                  <a:txBody>
                    <a:bodyPr/>
                    <a:lstStyle/>
                    <a:p>
                      <a:endParaRPr lang="en-US" dirty="0"/>
                    </a:p>
                    <a:p>
                      <a:r>
                        <a:rPr lang="en-US" dirty="0"/>
                        <a:t>   1</a:t>
                      </a:r>
                      <a:endParaRPr lang="en-IN" dirty="0"/>
                    </a:p>
                  </a:txBody>
                  <a:tcPr/>
                </a:tc>
                <a:tc>
                  <a:txBody>
                    <a:bodyPr/>
                    <a:lstStyle/>
                    <a:p>
                      <a:r>
                        <a:rPr lang="en-US" dirty="0">
                          <a:latin typeface="Times New Roman" panose="02020603050405020304" pitchFamily="18" charset="0"/>
                          <a:cs typeface="Times New Roman" panose="02020603050405020304" pitchFamily="18" charset="0"/>
                        </a:rPr>
                        <a:t>S. K. Sharma, A. Roy</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Blockchain in Access Control Systems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 Uses decentralized ledgers for tamper-proof, immutable visitor records.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2647178"/>
                  </a:ext>
                </a:extLst>
              </a:tr>
              <a:tr h="1426615">
                <a:tc>
                  <a:txBody>
                    <a:bodyPr/>
                    <a:lstStyle/>
                    <a:p>
                      <a:endParaRPr lang="en-US" dirty="0"/>
                    </a:p>
                    <a:p>
                      <a:r>
                        <a:rPr lang="en-US" dirty="0"/>
                        <a:t>   2</a:t>
                      </a:r>
                      <a:endParaRPr lang="en-IN" dirty="0"/>
                    </a:p>
                  </a:txBody>
                  <a:tcPr/>
                </a:tc>
                <a:tc>
                  <a:txBody>
                    <a:bodyPr/>
                    <a:lstStyle/>
                    <a:p>
                      <a:r>
                        <a:rPr lang="fi-FI" dirty="0">
                          <a:latin typeface="Times New Roman" panose="02020603050405020304" pitchFamily="18" charset="0"/>
                          <a:cs typeface="Times New Roman" panose="02020603050405020304" pitchFamily="18" charset="0"/>
                        </a:rPr>
                        <a:t>M. N. Patil, </a:t>
                      </a:r>
                    </a:p>
                    <a:p>
                      <a:r>
                        <a:rPr lang="fi-FI" dirty="0">
                          <a:latin typeface="Times New Roman" panose="02020603050405020304" pitchFamily="18" charset="0"/>
                          <a:cs typeface="Times New Roman" panose="02020603050405020304" pitchFamily="18" charset="0"/>
                        </a:rPr>
                        <a:t>V. J. Mahajan</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IN" dirty="0">
                          <a:latin typeface="Times New Roman" panose="02020603050405020304" pitchFamily="18" charset="0"/>
                          <a:cs typeface="Times New Roman" panose="02020603050405020304" pitchFamily="18" charset="0"/>
                        </a:rPr>
                        <a:t>Digital Visitor Logbooks via Web Applications </a:t>
                      </a:r>
                    </a:p>
                  </a:txBody>
                  <a:tcPr/>
                </a:tc>
                <a:tc>
                  <a:txBody>
                    <a:bodyPr/>
                    <a:lstStyle/>
                    <a:p>
                      <a:r>
                        <a:rPr lang="en-US" dirty="0">
                          <a:latin typeface="Times New Roman" panose="02020603050405020304" pitchFamily="18" charset="0"/>
                          <a:cs typeface="Times New Roman" panose="02020603050405020304" pitchFamily="18" charset="0"/>
                        </a:rPr>
                        <a:t>Replaces manual logbooks with real-time, error-free digital entries.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4943627"/>
                  </a:ext>
                </a:extLst>
              </a:tr>
              <a:tr h="1426615">
                <a:tc>
                  <a:txBody>
                    <a:bodyPr/>
                    <a:lstStyle/>
                    <a:p>
                      <a:endParaRPr lang="en-US" dirty="0"/>
                    </a:p>
                    <a:p>
                      <a:r>
                        <a:rPr lang="en-US" dirty="0"/>
                        <a:t>   3</a:t>
                      </a:r>
                      <a:endParaRPr lang="en-IN" dirty="0"/>
                    </a:p>
                  </a:txBody>
                  <a:tcPr/>
                </a:tc>
                <a:tc>
                  <a:txBody>
                    <a:bodyPr/>
                    <a:lstStyle/>
                    <a:p>
                      <a:r>
                        <a:rPr lang="en-IN" dirty="0">
                          <a:latin typeface="Times New Roman" panose="02020603050405020304" pitchFamily="18" charset="0"/>
                          <a:cs typeface="Times New Roman" panose="02020603050405020304" pitchFamily="18" charset="0"/>
                        </a:rPr>
                        <a:t>P. Dasgupta,</a:t>
                      </a:r>
                    </a:p>
                    <a:p>
                      <a:r>
                        <a:rPr lang="en-IN" dirty="0">
                          <a:latin typeface="Times New Roman" panose="02020603050405020304" pitchFamily="18" charset="0"/>
                          <a:cs typeface="Times New Roman" panose="02020603050405020304" pitchFamily="18" charset="0"/>
                        </a:rPr>
                        <a:t>V. Iyer</a:t>
                      </a:r>
                    </a:p>
                  </a:txBody>
                  <a:tcPr/>
                </a:tc>
                <a:tc>
                  <a:txBody>
                    <a:bodyPr/>
                    <a:lstStyle/>
                    <a:p>
                      <a:pPr algn="l"/>
                      <a:r>
                        <a:rPr lang="en-US" dirty="0">
                          <a:latin typeface="Times New Roman" panose="02020603050405020304" pitchFamily="18" charset="0"/>
                          <a:cs typeface="Times New Roman" panose="02020603050405020304" pitchFamily="18" charset="0"/>
                        </a:rPr>
                        <a:t>Modular Architecture for Visitor Pass Systems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Suggests scalable, plug-and-play design allowing easy integration of biometrics, mobile apps, and multilingual support..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86241081"/>
                  </a:ext>
                </a:extLst>
              </a:tr>
            </a:tbl>
          </a:graphicData>
        </a:graphic>
      </p:graphicFrame>
      <p:sp>
        <p:nvSpPr>
          <p:cNvPr id="11" name="TextBox 10">
            <a:extLst>
              <a:ext uri="{FF2B5EF4-FFF2-40B4-BE49-F238E27FC236}">
                <a16:creationId xmlns:a16="http://schemas.microsoft.com/office/drawing/2014/main" id="{80D70793-7DDF-3014-2EC9-CD3F8F500BCD}"/>
              </a:ext>
            </a:extLst>
          </p:cNvPr>
          <p:cNvSpPr txBox="1"/>
          <p:nvPr/>
        </p:nvSpPr>
        <p:spPr>
          <a:xfrm>
            <a:off x="2375913" y="1828706"/>
            <a:ext cx="609872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FFFFFF"/>
                </a:solidFill>
                <a:effectLst/>
                <a:uLnTx/>
                <a:uFillTx/>
                <a:latin typeface="Calibri"/>
                <a:ea typeface="+mn-ea"/>
                <a:cs typeface="+mn-cs"/>
              </a:rPr>
              <a:t>Title of the paper</a:t>
            </a:r>
          </a:p>
        </p:txBody>
      </p:sp>
      <p:sp>
        <p:nvSpPr>
          <p:cNvPr id="13" name="TextBox 12">
            <a:extLst>
              <a:ext uri="{FF2B5EF4-FFF2-40B4-BE49-F238E27FC236}">
                <a16:creationId xmlns:a16="http://schemas.microsoft.com/office/drawing/2014/main" id="{CBC3CE95-54A2-B897-08F3-2A9CA5E3D16B}"/>
              </a:ext>
            </a:extLst>
          </p:cNvPr>
          <p:cNvSpPr txBox="1"/>
          <p:nvPr/>
        </p:nvSpPr>
        <p:spPr>
          <a:xfrm>
            <a:off x="6068430" y="1828706"/>
            <a:ext cx="6098720" cy="369332"/>
          </a:xfrm>
          <a:prstGeom prst="rect">
            <a:avLst/>
          </a:prstGeom>
          <a:noFill/>
        </p:spPr>
        <p:txBody>
          <a:bodyPr wrap="square">
            <a:spAutoFit/>
          </a:bodyPr>
          <a:lstStyle/>
          <a:p>
            <a:pPr algn="ctr"/>
            <a:r>
              <a:rPr lang="en-US" b="1" dirty="0">
                <a:solidFill>
                  <a:schemeClr val="bg1"/>
                </a:solidFill>
                <a:latin typeface="Calibri"/>
              </a:rPr>
              <a:t>Outcome</a:t>
            </a:r>
            <a:endParaRPr lang="en-US" b="1" dirty="0">
              <a:solidFill>
                <a:schemeClr val="bg1"/>
              </a:solidFill>
              <a:latin typeface="Calibri"/>
              <a:ea typeface="Calibri"/>
              <a:cs typeface="Calibri"/>
            </a:endParaRPr>
          </a:p>
        </p:txBody>
      </p:sp>
    </p:spTree>
    <p:extLst>
      <p:ext uri="{BB962C8B-B14F-4D97-AF65-F5344CB8AC3E}">
        <p14:creationId xmlns:p14="http://schemas.microsoft.com/office/powerpoint/2010/main" val="1133160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113CFB3-F4ED-16DA-528A-F00E158383E7}"/>
              </a:ext>
            </a:extLst>
          </p:cNvPr>
          <p:cNvSpPr>
            <a:spLocks noGrp="1"/>
          </p:cNvSpPr>
          <p:nvPr>
            <p:ph type="title"/>
          </p:nvPr>
        </p:nvSpPr>
        <p:spPr>
          <a:xfrm>
            <a:off x="810630" y="199869"/>
            <a:ext cx="10515600" cy="1325563"/>
          </a:xfrm>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Architecture</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F9927B4-190D-9784-0E60-97BC7DEAA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3" name="Picture 2">
            <a:extLst>
              <a:ext uri="{FF2B5EF4-FFF2-40B4-BE49-F238E27FC236}">
                <a16:creationId xmlns:a16="http://schemas.microsoft.com/office/drawing/2014/main" id="{9CBD9CC7-F9CD-2BE8-635A-687CA018F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775" y="1761104"/>
            <a:ext cx="6648450" cy="4533219"/>
          </a:xfrm>
          <a:prstGeom prst="rect">
            <a:avLst/>
          </a:prstGeom>
        </p:spPr>
      </p:pic>
    </p:spTree>
    <p:extLst>
      <p:ext uri="{BB962C8B-B14F-4D97-AF65-F5344CB8AC3E}">
        <p14:creationId xmlns:p14="http://schemas.microsoft.com/office/powerpoint/2010/main" val="562503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73FD8AE-9C73-A90E-F80C-9B644CBC8851}"/>
              </a:ext>
            </a:extLst>
          </p:cNvPr>
          <p:cNvSpPr>
            <a:spLocks noGrp="1"/>
          </p:cNvSpPr>
          <p:nvPr>
            <p:ph type="title"/>
          </p:nvPr>
        </p:nvSpPr>
        <p:spPr>
          <a:xfrm>
            <a:off x="838200" y="0"/>
            <a:ext cx="10515600" cy="1325563"/>
          </a:xfrm>
        </p:spPr>
        <p:txBody>
          <a:bodyPr>
            <a:normAutofit/>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UML Diagrams</a:t>
            </a:r>
            <a:br>
              <a:rPr lang="en-IN" b="1" i="0" dirty="0">
                <a:solidFill>
                  <a:srgbClr val="222222"/>
                </a:solidFill>
                <a:effectLst/>
                <a:latin typeface="Times New Roman" panose="02020603050405020304" pitchFamily="18" charset="0"/>
                <a:cs typeface="Times New Roman" panose="02020603050405020304" pitchFamily="18" charset="0"/>
              </a:rPr>
            </a:br>
            <a:r>
              <a:rPr lang="en-IN" sz="2800" b="1" i="0" dirty="0">
                <a:solidFill>
                  <a:srgbClr val="222222"/>
                </a:solidFill>
                <a:effectLst/>
                <a:latin typeface="Times New Roman" panose="02020603050405020304" pitchFamily="18" charset="0"/>
                <a:cs typeface="Times New Roman" panose="02020603050405020304" pitchFamily="18" charset="0"/>
              </a:rPr>
              <a:t>1.Class Diagram</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8C3981C-93F4-44B2-2C65-8DD5CD4A9C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8" name="Picture 7">
            <a:extLst>
              <a:ext uri="{FF2B5EF4-FFF2-40B4-BE49-F238E27FC236}">
                <a16:creationId xmlns:a16="http://schemas.microsoft.com/office/drawing/2014/main" id="{DD3AB98D-EBCE-AE1B-C167-319BF3C35A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5353" y="1325563"/>
            <a:ext cx="7301293" cy="5283582"/>
          </a:xfrm>
          <a:prstGeom prst="rect">
            <a:avLst/>
          </a:prstGeom>
        </p:spPr>
      </p:pic>
    </p:spTree>
    <p:extLst>
      <p:ext uri="{BB962C8B-B14F-4D97-AF65-F5344CB8AC3E}">
        <p14:creationId xmlns:p14="http://schemas.microsoft.com/office/powerpoint/2010/main" val="3049208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684B429-C033-0B8D-9E45-048EF11EF138}"/>
              </a:ext>
            </a:extLst>
          </p:cNvPr>
          <p:cNvSpPr>
            <a:spLocks noGrp="1"/>
          </p:cNvSpPr>
          <p:nvPr>
            <p:ph type="title"/>
          </p:nvPr>
        </p:nvSpPr>
        <p:spPr>
          <a:xfrm>
            <a:off x="766668" y="0"/>
            <a:ext cx="10515600" cy="1325563"/>
          </a:xfrm>
        </p:spPr>
        <p:txBody>
          <a:bodyPr>
            <a:normAutofit/>
          </a:bodyPr>
          <a:lstStyle/>
          <a:p>
            <a:pPr algn="ctr"/>
            <a:r>
              <a:rPr lang="en-IN" sz="2800" b="1" i="0" dirty="0">
                <a:solidFill>
                  <a:srgbClr val="222222"/>
                </a:solidFill>
                <a:effectLst/>
                <a:latin typeface="Times New Roman" panose="02020603050405020304" pitchFamily="18" charset="0"/>
                <a:cs typeface="Times New Roman" panose="02020603050405020304" pitchFamily="18" charset="0"/>
              </a:rPr>
              <a:t>2.Use Case Diagram</a:t>
            </a:r>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4881BFE-690F-82FF-848F-CAFD2B35E1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3" name="Picture 2">
            <a:extLst>
              <a:ext uri="{FF2B5EF4-FFF2-40B4-BE49-F238E27FC236}">
                <a16:creationId xmlns:a16="http://schemas.microsoft.com/office/drawing/2014/main" id="{34E68D6D-B663-831F-0B1D-ED01172990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4205" y="1456623"/>
            <a:ext cx="5857875" cy="4829175"/>
          </a:xfrm>
          <a:prstGeom prst="rect">
            <a:avLst/>
          </a:prstGeom>
        </p:spPr>
      </p:pic>
    </p:spTree>
    <p:extLst>
      <p:ext uri="{BB962C8B-B14F-4D97-AF65-F5344CB8AC3E}">
        <p14:creationId xmlns:p14="http://schemas.microsoft.com/office/powerpoint/2010/main" val="2322690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9DB80D-F58C-1C57-15AF-844FEB8F13E5}"/>
              </a:ext>
            </a:extLst>
          </p:cNvPr>
          <p:cNvSpPr>
            <a:spLocks noGrp="1"/>
          </p:cNvSpPr>
          <p:nvPr>
            <p:ph type="title"/>
          </p:nvPr>
        </p:nvSpPr>
        <p:spPr>
          <a:xfrm>
            <a:off x="838200" y="-34405"/>
            <a:ext cx="10515600" cy="1325563"/>
          </a:xfrm>
        </p:spPr>
        <p:txBody>
          <a:bodyPr>
            <a:normAutofit/>
          </a:bodyPr>
          <a:lstStyle/>
          <a:p>
            <a:pPr algn="ctr"/>
            <a:r>
              <a:rPr lang="en-IN" sz="2800" b="1" i="0" dirty="0">
                <a:solidFill>
                  <a:srgbClr val="222222"/>
                </a:solidFill>
                <a:effectLst/>
                <a:latin typeface="Times New Roman" panose="02020603050405020304" pitchFamily="18" charset="0"/>
                <a:cs typeface="Times New Roman" panose="02020603050405020304" pitchFamily="18" charset="0"/>
              </a:rPr>
              <a:t>3.Sequence Diagram</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301E893-12CB-88C5-B0B7-A9104FB748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813" y="0"/>
            <a:ext cx="1106774" cy="1256754"/>
          </a:xfrm>
          <a:prstGeom prst="rect">
            <a:avLst/>
          </a:prstGeom>
        </p:spPr>
      </p:pic>
      <p:pic>
        <p:nvPicPr>
          <p:cNvPr id="8" name="Picture 7">
            <a:extLst>
              <a:ext uri="{FF2B5EF4-FFF2-40B4-BE49-F238E27FC236}">
                <a16:creationId xmlns:a16="http://schemas.microsoft.com/office/drawing/2014/main" id="{D9956334-AB2A-287E-6BA3-E5A25D114C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375" y="1493133"/>
            <a:ext cx="10515600" cy="4879091"/>
          </a:xfrm>
          <a:prstGeom prst="rect">
            <a:avLst/>
          </a:prstGeom>
        </p:spPr>
      </p:pic>
    </p:spTree>
    <p:extLst>
      <p:ext uri="{BB962C8B-B14F-4D97-AF65-F5344CB8AC3E}">
        <p14:creationId xmlns:p14="http://schemas.microsoft.com/office/powerpoint/2010/main" val="2714563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714F28-5E37-E900-D017-C2D631B4DC6B}"/>
              </a:ext>
            </a:extLst>
          </p:cNvPr>
          <p:cNvSpPr>
            <a:spLocks noGrp="1"/>
          </p:cNvSpPr>
          <p:nvPr>
            <p:ph type="title"/>
          </p:nvPr>
        </p:nvSpPr>
        <p:spPr>
          <a:xfrm>
            <a:off x="975220" y="-101492"/>
            <a:ext cx="10515600" cy="1325563"/>
          </a:xfrm>
        </p:spPr>
        <p:txBody>
          <a:bodyPr>
            <a:normAutofit/>
          </a:bodyPr>
          <a:lstStyle/>
          <a:p>
            <a:pPr algn="ctr"/>
            <a:r>
              <a:rPr lang="en-IN" sz="2800" b="1" dirty="0">
                <a:solidFill>
                  <a:srgbClr val="222222"/>
                </a:solidFill>
                <a:latin typeface="Times New Roman" panose="02020603050405020304" pitchFamily="18" charset="0"/>
                <a:cs typeface="Times New Roman" panose="02020603050405020304" pitchFamily="18" charset="0"/>
              </a:rPr>
              <a:t>4.</a:t>
            </a:r>
            <a:r>
              <a:rPr lang="en-IN" sz="2800" b="1" i="0" dirty="0">
                <a:solidFill>
                  <a:srgbClr val="222222"/>
                </a:solidFill>
                <a:effectLst/>
                <a:latin typeface="Times New Roman" panose="02020603050405020304" pitchFamily="18" charset="0"/>
                <a:cs typeface="Times New Roman" panose="02020603050405020304" pitchFamily="18" charset="0"/>
              </a:rPr>
              <a:t>Activity Diagram</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AD90812-8685-85F0-EE88-DA4E725ADF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8" name="Picture 7">
            <a:extLst>
              <a:ext uri="{FF2B5EF4-FFF2-40B4-BE49-F238E27FC236}">
                <a16:creationId xmlns:a16="http://schemas.microsoft.com/office/drawing/2014/main" id="{B7D742F7-8C1C-E7B3-FC12-9E783787D4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9422" y="810228"/>
            <a:ext cx="4253156" cy="6047772"/>
          </a:xfrm>
          <a:prstGeom prst="rect">
            <a:avLst/>
          </a:prstGeom>
        </p:spPr>
      </p:pic>
    </p:spTree>
    <p:extLst>
      <p:ext uri="{BB962C8B-B14F-4D97-AF65-F5344CB8AC3E}">
        <p14:creationId xmlns:p14="http://schemas.microsoft.com/office/powerpoint/2010/main" val="405959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29D46-3DFC-FDA1-E35D-5007B928842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6A5DCB1-6821-A421-7CF5-5A55B529F4A4}"/>
              </a:ext>
            </a:extLst>
          </p:cNvPr>
          <p:cNvSpPr>
            <a:spLocks noGrp="1"/>
          </p:cNvSpPr>
          <p:nvPr>
            <p:ph type="title"/>
          </p:nvPr>
        </p:nvSpPr>
        <p:spPr>
          <a:xfrm>
            <a:off x="975220" y="-101492"/>
            <a:ext cx="10515600" cy="1325563"/>
          </a:xfrm>
        </p:spPr>
        <p:txBody>
          <a:bodyPr>
            <a:normAutofit/>
          </a:bodyPr>
          <a:lstStyle/>
          <a:p>
            <a:pPr algn="ctr"/>
            <a:r>
              <a:rPr lang="en-IN" sz="2800" b="1" dirty="0">
                <a:solidFill>
                  <a:srgbClr val="222222"/>
                </a:solidFill>
                <a:latin typeface="Times New Roman" panose="02020603050405020304" pitchFamily="18" charset="0"/>
                <a:cs typeface="Times New Roman" panose="02020603050405020304" pitchFamily="18" charset="0"/>
              </a:rPr>
              <a:t>5.Component Diagram</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7D7C436-3CB7-F0E8-6F3B-6F801A6BE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1028" name="Picture 4" descr="PlantUML diagram">
            <a:extLst>
              <a:ext uri="{FF2B5EF4-FFF2-40B4-BE49-F238E27FC236}">
                <a16:creationId xmlns:a16="http://schemas.microsoft.com/office/drawing/2014/main" id="{4B48650A-B5A4-E175-2E17-B9A4EF0514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75" y="1900238"/>
            <a:ext cx="10382250" cy="3057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37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9C5EB-9AFB-68D1-4367-E3D665CFFB5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436FF58-D92B-85C2-92C8-E4FE9AFD9E34}"/>
              </a:ext>
            </a:extLst>
          </p:cNvPr>
          <p:cNvSpPr>
            <a:spLocks noGrp="1"/>
          </p:cNvSpPr>
          <p:nvPr>
            <p:ph type="title"/>
          </p:nvPr>
        </p:nvSpPr>
        <p:spPr>
          <a:xfrm>
            <a:off x="975220" y="-101492"/>
            <a:ext cx="10515600" cy="1325563"/>
          </a:xfrm>
        </p:spPr>
        <p:txBody>
          <a:bodyPr>
            <a:normAutofit/>
          </a:bodyPr>
          <a:lstStyle/>
          <a:p>
            <a:pPr algn="ctr"/>
            <a:r>
              <a:rPr lang="en-US" sz="2800" b="1" dirty="0">
                <a:solidFill>
                  <a:srgbClr val="222222"/>
                </a:solidFill>
                <a:latin typeface="Times New Roman" panose="02020603050405020304" pitchFamily="18" charset="0"/>
                <a:cs typeface="Times New Roman" panose="02020603050405020304" pitchFamily="18" charset="0"/>
              </a:rPr>
              <a:t>6</a:t>
            </a:r>
            <a:r>
              <a:rPr lang="en-IN" sz="2800" b="1" dirty="0">
                <a:solidFill>
                  <a:srgbClr val="222222"/>
                </a:solidFill>
                <a:latin typeface="Times New Roman" panose="02020603050405020304" pitchFamily="18" charset="0"/>
                <a:cs typeface="Times New Roman" panose="02020603050405020304" pitchFamily="18" charset="0"/>
              </a:rPr>
              <a:t>.State Chart Diagram</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A71070D-5C31-1744-8CAC-EFFB8228F0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2050" name="Picture 2" descr="PlantUML diagram">
            <a:extLst>
              <a:ext uri="{FF2B5EF4-FFF2-40B4-BE49-F238E27FC236}">
                <a16:creationId xmlns:a16="http://schemas.microsoft.com/office/drawing/2014/main" id="{A550D491-8707-0267-4891-2D70E16969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028700"/>
            <a:ext cx="3808413" cy="556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899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0AD4D-D4AC-514F-8B9F-CC5D8BA305B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68F0679-24EA-D935-10DE-186BE08BFA20}"/>
              </a:ext>
            </a:extLst>
          </p:cNvPr>
          <p:cNvSpPr>
            <a:spLocks noGrp="1"/>
          </p:cNvSpPr>
          <p:nvPr>
            <p:ph type="title"/>
          </p:nvPr>
        </p:nvSpPr>
        <p:spPr>
          <a:xfrm>
            <a:off x="975220" y="-101492"/>
            <a:ext cx="10515600" cy="1325563"/>
          </a:xfrm>
        </p:spPr>
        <p:txBody>
          <a:bodyPr>
            <a:normAutofit/>
          </a:bodyPr>
          <a:lstStyle/>
          <a:p>
            <a:pPr algn="ctr"/>
            <a:r>
              <a:rPr lang="en-US" sz="2800" b="1" dirty="0">
                <a:solidFill>
                  <a:srgbClr val="222222"/>
                </a:solidFill>
                <a:latin typeface="Times New Roman" panose="02020603050405020304" pitchFamily="18" charset="0"/>
                <a:cs typeface="Times New Roman" panose="02020603050405020304" pitchFamily="18" charset="0"/>
              </a:rPr>
              <a:t>7.Deployment Diagram</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FA1C5B9-B847-F914-4EEC-90ADF0B510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3074" name="Picture 2" descr="PlantUML diagram">
            <a:extLst>
              <a:ext uri="{FF2B5EF4-FFF2-40B4-BE49-F238E27FC236}">
                <a16:creationId xmlns:a16="http://schemas.microsoft.com/office/drawing/2014/main" id="{3E368D60-7135-2E86-97B9-8C8D942540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3800" y="1638300"/>
            <a:ext cx="9855200" cy="410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362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E56E-506D-624C-2C89-CD4CB62F17E4}"/>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Technologies</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77874AC-27FE-3D34-19E8-4268B7E055B3}"/>
              </a:ext>
            </a:extLst>
          </p:cNvPr>
          <p:cNvSpPr txBox="1"/>
          <p:nvPr/>
        </p:nvSpPr>
        <p:spPr>
          <a:xfrm>
            <a:off x="838200" y="1480035"/>
            <a:ext cx="10380406" cy="4307398"/>
          </a:xfrm>
          <a:prstGeom prst="rect">
            <a:avLst/>
          </a:prstGeom>
          <a:noFill/>
        </p:spPr>
        <p:txBody>
          <a:bodyPr wrap="square">
            <a:spAutoFit/>
          </a:bodyPr>
          <a:lstStyle/>
          <a:p>
            <a:pPr marL="342900" indent="-342900">
              <a:lnSpc>
                <a:spcPct val="20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React.js </a:t>
            </a:r>
            <a:r>
              <a:rPr lang="en-IN" sz="2000" dirty="0">
                <a:latin typeface="Times New Roman" panose="02020603050405020304" pitchFamily="18" charset="0"/>
                <a:cs typeface="Times New Roman" panose="02020603050405020304" pitchFamily="18" charset="0"/>
              </a:rPr>
              <a:t>– Frontend framework for the user interface.</a:t>
            </a:r>
          </a:p>
          <a:p>
            <a:pPr marL="342900" indent="-342900">
              <a:lnSpc>
                <a:spcPct val="20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TypeScript</a:t>
            </a:r>
            <a:r>
              <a:rPr lang="en-IN" sz="2000" dirty="0">
                <a:latin typeface="Times New Roman" panose="02020603050405020304" pitchFamily="18" charset="0"/>
                <a:cs typeface="Times New Roman" panose="02020603050405020304" pitchFamily="18" charset="0"/>
              </a:rPr>
              <a:t> – Strongly typed language for frontend development.</a:t>
            </a:r>
          </a:p>
          <a:p>
            <a:pPr marL="342900" indent="-342900">
              <a:lnSpc>
                <a:spcPct val="20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Node.js + Express.js </a:t>
            </a:r>
            <a:r>
              <a:rPr lang="en-IN" sz="2000" dirty="0">
                <a:latin typeface="Times New Roman" panose="02020603050405020304" pitchFamily="18" charset="0"/>
                <a:cs typeface="Times New Roman" panose="02020603050405020304" pitchFamily="18" charset="0"/>
              </a:rPr>
              <a:t>– Backend server for API handling.</a:t>
            </a:r>
          </a:p>
          <a:p>
            <a:pPr marL="342900" indent="-342900">
              <a:lnSpc>
                <a:spcPct val="20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Albedo Wallet Integration </a:t>
            </a:r>
            <a:r>
              <a:rPr lang="en-IN" sz="2000" dirty="0">
                <a:latin typeface="Times New Roman" panose="02020603050405020304" pitchFamily="18" charset="0"/>
                <a:cs typeface="Times New Roman" panose="02020603050405020304" pitchFamily="18" charset="0"/>
              </a:rPr>
              <a:t>– For secure blockchain transactions.</a:t>
            </a:r>
          </a:p>
          <a:p>
            <a:pPr marL="342900" indent="-342900">
              <a:lnSpc>
                <a:spcPct val="20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OCR (Optical Character Recognition) </a:t>
            </a:r>
            <a:r>
              <a:rPr lang="en-IN" sz="2000" dirty="0">
                <a:latin typeface="Times New Roman" panose="02020603050405020304" pitchFamily="18" charset="0"/>
                <a:cs typeface="Times New Roman" panose="02020603050405020304" pitchFamily="18" charset="0"/>
              </a:rPr>
              <a:t>– For extracting visitor details from ID cards.</a:t>
            </a:r>
          </a:p>
          <a:p>
            <a:pPr marL="342900" indent="-342900">
              <a:lnSpc>
                <a:spcPct val="20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Blockchain</a:t>
            </a:r>
            <a:r>
              <a:rPr lang="en-IN" sz="2000" dirty="0">
                <a:latin typeface="Times New Roman" panose="02020603050405020304" pitchFamily="18" charset="0"/>
                <a:cs typeface="Times New Roman" panose="02020603050405020304" pitchFamily="18" charset="0"/>
              </a:rPr>
              <a:t> – For secure, tamper-proof gate pass records.</a:t>
            </a:r>
          </a:p>
          <a:p>
            <a:pPr marL="342900" indent="-342900">
              <a:lnSpc>
                <a:spcPct val="20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QR Code Generation </a:t>
            </a:r>
            <a:r>
              <a:rPr lang="en-IN" sz="2000" dirty="0">
                <a:latin typeface="Times New Roman" panose="02020603050405020304" pitchFamily="18" charset="0"/>
                <a:cs typeface="Times New Roman" panose="02020603050405020304" pitchFamily="18" charset="0"/>
              </a:rPr>
              <a:t>– For unique, scannable gate passes.</a:t>
            </a:r>
          </a:p>
        </p:txBody>
      </p:sp>
      <p:pic>
        <p:nvPicPr>
          <p:cNvPr id="11" name="Picture 10">
            <a:extLst>
              <a:ext uri="{FF2B5EF4-FFF2-40B4-BE49-F238E27FC236}">
                <a16:creationId xmlns:a16="http://schemas.microsoft.com/office/drawing/2014/main" id="{F0B7DF20-E190-EB4E-93E5-C0686CBC04F5}"/>
              </a:ext>
            </a:extLst>
          </p:cNvPr>
          <p:cNvPicPr>
            <a:picLocks noChangeAspect="1"/>
          </p:cNvPicPr>
          <p:nvPr/>
        </p:nvPicPr>
        <p:blipFill>
          <a:blip r:embed="rId2"/>
          <a:stretch>
            <a:fillRect/>
          </a:stretch>
        </p:blipFill>
        <p:spPr>
          <a:xfrm>
            <a:off x="9096888" y="1590679"/>
            <a:ext cx="2381250" cy="1590675"/>
          </a:xfrm>
          <a:prstGeom prst="rect">
            <a:avLst/>
          </a:prstGeom>
        </p:spPr>
      </p:pic>
      <p:pic>
        <p:nvPicPr>
          <p:cNvPr id="1031" name="Picture 7" descr="Blockchain technology futuristic hud banner. — Stock Photo, Image">
            <a:extLst>
              <a:ext uri="{FF2B5EF4-FFF2-40B4-BE49-F238E27FC236}">
                <a16:creationId xmlns:a16="http://schemas.microsoft.com/office/drawing/2014/main" id="{17A012BE-FBB9-64C9-3809-255AC5BABA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34411" y="4672022"/>
            <a:ext cx="1903259" cy="190325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E76CEF5-501C-2944-2516-10FB05A0CB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Tree>
    <p:extLst>
      <p:ext uri="{BB962C8B-B14F-4D97-AF65-F5344CB8AC3E}">
        <p14:creationId xmlns:p14="http://schemas.microsoft.com/office/powerpoint/2010/main" val="314851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0F641-D48A-BE38-32BF-068E6F2A0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247ED-B407-EDCC-7ADA-D1290239A123}"/>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Modules Description</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1A3B4E0A-063F-FDB1-CB74-64D839B04A74}"/>
              </a:ext>
            </a:extLst>
          </p:cNvPr>
          <p:cNvSpPr>
            <a:spLocks noChangeArrowheads="1"/>
          </p:cNvSpPr>
          <p:nvPr/>
        </p:nvSpPr>
        <p:spPr bwMode="auto">
          <a:xfrm>
            <a:off x="735725" y="-376763"/>
            <a:ext cx="9543393" cy="686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b="1" dirty="0">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Upload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Users upload their Aadhaar/ID card image through the application interface for processing.</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OCR Processing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system extracts visitor details like name, ID number, and photo using Optical Character Recognition.</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Blockchain Logging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Visitor details are securely recorded on a decentralized ledger for tamper-proof tracking.</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Gate Pass Generation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 digital pass is created with a unique ID and QR code linked to the blockchain record.</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 Management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Admin reviews, approves, or rejects passes, ensuring controlled and verifiable access</a:t>
            </a:r>
          </a:p>
        </p:txBody>
      </p:sp>
      <p:pic>
        <p:nvPicPr>
          <p:cNvPr id="3" name="Picture 2">
            <a:extLst>
              <a:ext uri="{FF2B5EF4-FFF2-40B4-BE49-F238E27FC236}">
                <a16:creationId xmlns:a16="http://schemas.microsoft.com/office/drawing/2014/main" id="{46D5BDCD-638E-84EE-151E-D2BB04A45E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Tree>
    <p:extLst>
      <p:ext uri="{BB962C8B-B14F-4D97-AF65-F5344CB8AC3E}">
        <p14:creationId xmlns:p14="http://schemas.microsoft.com/office/powerpoint/2010/main" val="3915483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DB185-5EB2-A23C-52E0-9AC9F2193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D40C9-317A-C1BA-55A9-CDB2544C8823}"/>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Output Screens</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36729E8-3267-3193-5B5A-4A49AACAE5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6" name="Picture 5">
            <a:extLst>
              <a:ext uri="{FF2B5EF4-FFF2-40B4-BE49-F238E27FC236}">
                <a16:creationId xmlns:a16="http://schemas.microsoft.com/office/drawing/2014/main" id="{434FCEF8-8D33-1AA5-7510-432F12D655BB}"/>
              </a:ext>
            </a:extLst>
          </p:cNvPr>
          <p:cNvPicPr>
            <a:picLocks noChangeAspect="1"/>
          </p:cNvPicPr>
          <p:nvPr/>
        </p:nvPicPr>
        <p:blipFill>
          <a:blip r:embed="rId3"/>
          <a:stretch>
            <a:fillRect/>
          </a:stretch>
        </p:blipFill>
        <p:spPr>
          <a:xfrm>
            <a:off x="1132194" y="1690688"/>
            <a:ext cx="10334591" cy="4785744"/>
          </a:xfrm>
          <a:prstGeom prst="rect">
            <a:avLst/>
          </a:prstGeom>
        </p:spPr>
      </p:pic>
    </p:spTree>
    <p:extLst>
      <p:ext uri="{BB962C8B-B14F-4D97-AF65-F5344CB8AC3E}">
        <p14:creationId xmlns:p14="http://schemas.microsoft.com/office/powerpoint/2010/main" val="3325317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2C9A9-A001-31F5-E53C-4D20F82B8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5FA2A-9A05-DB84-0B0B-0C3F03C77D51}"/>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Output Screens</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D67DA05-8083-2196-9284-222A41571D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5" name="Picture 4">
            <a:extLst>
              <a:ext uri="{FF2B5EF4-FFF2-40B4-BE49-F238E27FC236}">
                <a16:creationId xmlns:a16="http://schemas.microsoft.com/office/drawing/2014/main" id="{BAFF5C90-DBF3-F96D-4E30-4802C06ABEB4}"/>
              </a:ext>
            </a:extLst>
          </p:cNvPr>
          <p:cNvPicPr>
            <a:picLocks noChangeAspect="1"/>
          </p:cNvPicPr>
          <p:nvPr/>
        </p:nvPicPr>
        <p:blipFill>
          <a:blip r:embed="rId3"/>
          <a:stretch>
            <a:fillRect/>
          </a:stretch>
        </p:blipFill>
        <p:spPr>
          <a:xfrm>
            <a:off x="1235890" y="1690688"/>
            <a:ext cx="10272938" cy="4656350"/>
          </a:xfrm>
          <a:prstGeom prst="rect">
            <a:avLst/>
          </a:prstGeom>
        </p:spPr>
      </p:pic>
    </p:spTree>
    <p:extLst>
      <p:ext uri="{BB962C8B-B14F-4D97-AF65-F5344CB8AC3E}">
        <p14:creationId xmlns:p14="http://schemas.microsoft.com/office/powerpoint/2010/main" val="783648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64869-9EF7-275A-7D79-A9566FC61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39FF5-C5D2-11B6-FC17-DB883D4F87D8}"/>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Output Screens</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562884B-831C-A49D-C193-99696F8000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5" name="Picture 4">
            <a:extLst>
              <a:ext uri="{FF2B5EF4-FFF2-40B4-BE49-F238E27FC236}">
                <a16:creationId xmlns:a16="http://schemas.microsoft.com/office/drawing/2014/main" id="{DADC24FD-62A8-E6C3-81B0-4C8DF8B48704}"/>
              </a:ext>
            </a:extLst>
          </p:cNvPr>
          <p:cNvPicPr>
            <a:picLocks noChangeAspect="1"/>
          </p:cNvPicPr>
          <p:nvPr/>
        </p:nvPicPr>
        <p:blipFill>
          <a:blip r:embed="rId3"/>
          <a:stretch>
            <a:fillRect/>
          </a:stretch>
        </p:blipFill>
        <p:spPr>
          <a:xfrm>
            <a:off x="1364017" y="1634767"/>
            <a:ext cx="10439100" cy="4782065"/>
          </a:xfrm>
          <a:prstGeom prst="rect">
            <a:avLst/>
          </a:prstGeom>
        </p:spPr>
      </p:pic>
    </p:spTree>
    <p:extLst>
      <p:ext uri="{BB962C8B-B14F-4D97-AF65-F5344CB8AC3E}">
        <p14:creationId xmlns:p14="http://schemas.microsoft.com/office/powerpoint/2010/main" val="2137792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61761-1B07-D752-6E7E-1726C1AFDA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99F75-0836-97B9-F2E4-0C5ADE6E5D6D}"/>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Output Screens</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DF43EAA-483B-146F-8BD8-6D56F84CF8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5" name="Picture 4">
            <a:extLst>
              <a:ext uri="{FF2B5EF4-FFF2-40B4-BE49-F238E27FC236}">
                <a16:creationId xmlns:a16="http://schemas.microsoft.com/office/drawing/2014/main" id="{01DDDF36-8F97-2F51-D265-839605491377}"/>
              </a:ext>
            </a:extLst>
          </p:cNvPr>
          <p:cNvPicPr>
            <a:picLocks noChangeAspect="1"/>
          </p:cNvPicPr>
          <p:nvPr/>
        </p:nvPicPr>
        <p:blipFill>
          <a:blip r:embed="rId3"/>
          <a:stretch>
            <a:fillRect/>
          </a:stretch>
        </p:blipFill>
        <p:spPr>
          <a:xfrm>
            <a:off x="1014079" y="1621879"/>
            <a:ext cx="10789037" cy="4898989"/>
          </a:xfrm>
          <a:prstGeom prst="rect">
            <a:avLst/>
          </a:prstGeom>
        </p:spPr>
      </p:pic>
    </p:spTree>
    <p:extLst>
      <p:ext uri="{BB962C8B-B14F-4D97-AF65-F5344CB8AC3E}">
        <p14:creationId xmlns:p14="http://schemas.microsoft.com/office/powerpoint/2010/main" val="896611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B0958-6233-1DF2-6B0C-20CAE9714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298F7-3E19-9A5C-D990-5FC90DF0541D}"/>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Output Screens</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B6AA78D-82FA-3967-10B8-BA954755E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6" name="Picture 5">
            <a:extLst>
              <a:ext uri="{FF2B5EF4-FFF2-40B4-BE49-F238E27FC236}">
                <a16:creationId xmlns:a16="http://schemas.microsoft.com/office/drawing/2014/main" id="{141690FD-76CD-9A6D-224C-61CAC1FAF3A9}"/>
              </a:ext>
            </a:extLst>
          </p:cNvPr>
          <p:cNvPicPr>
            <a:picLocks noChangeAspect="1"/>
          </p:cNvPicPr>
          <p:nvPr/>
        </p:nvPicPr>
        <p:blipFill>
          <a:blip r:embed="rId3"/>
          <a:srcRect l="19905"/>
          <a:stretch>
            <a:fillRect/>
          </a:stretch>
        </p:blipFill>
        <p:spPr>
          <a:xfrm>
            <a:off x="3184634" y="1313849"/>
            <a:ext cx="7798675" cy="5006848"/>
          </a:xfrm>
          <a:prstGeom prst="rect">
            <a:avLst/>
          </a:prstGeom>
        </p:spPr>
      </p:pic>
    </p:spTree>
    <p:extLst>
      <p:ext uri="{BB962C8B-B14F-4D97-AF65-F5344CB8AC3E}">
        <p14:creationId xmlns:p14="http://schemas.microsoft.com/office/powerpoint/2010/main" val="37985770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7182-E1BD-8451-A883-C5B21B89C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31449-5743-3C20-4F5F-9DAA0FB5EF62}"/>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a:t>
            </a:r>
          </a:p>
        </p:txBody>
      </p:sp>
      <p:pic>
        <p:nvPicPr>
          <p:cNvPr id="3" name="Picture 2">
            <a:extLst>
              <a:ext uri="{FF2B5EF4-FFF2-40B4-BE49-F238E27FC236}">
                <a16:creationId xmlns:a16="http://schemas.microsoft.com/office/drawing/2014/main" id="{7070E565-FF9B-DD7E-F05C-BD715EB48D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4" name="TextBox 3">
            <a:extLst>
              <a:ext uri="{FF2B5EF4-FFF2-40B4-BE49-F238E27FC236}">
                <a16:creationId xmlns:a16="http://schemas.microsoft.com/office/drawing/2014/main" id="{2053391D-5675-6843-A2F9-99650C98B365}"/>
              </a:ext>
            </a:extLst>
          </p:cNvPr>
          <p:cNvSpPr txBox="1"/>
          <p:nvPr/>
        </p:nvSpPr>
        <p:spPr>
          <a:xfrm>
            <a:off x="838200" y="2028497"/>
            <a:ext cx="10765221" cy="3970318"/>
          </a:xfrm>
          <a:prstGeom prst="rect">
            <a:avLst/>
          </a:prstGeom>
          <a:noFill/>
        </p:spPr>
        <p:txBody>
          <a:bodyPr wrap="square" rtlCol="0">
            <a:sp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proposed system successfully integrates </a:t>
            </a:r>
            <a:r>
              <a:rPr lang="en-US" b="1" dirty="0">
                <a:latin typeface="Times New Roman" panose="02020603050405020304" pitchFamily="18" charset="0"/>
                <a:cs typeface="Times New Roman" panose="02020603050405020304" pitchFamily="18" charset="0"/>
              </a:rPr>
              <a:t>OCR</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blockchain</a:t>
            </a:r>
            <a:r>
              <a:rPr lang="en-US" dirty="0">
                <a:latin typeface="Times New Roman" panose="02020603050405020304" pitchFamily="18" charset="0"/>
                <a:cs typeface="Times New Roman" panose="02020603050405020304" pitchFamily="18" charset="0"/>
              </a:rPr>
              <a:t> to create a </a:t>
            </a:r>
            <a:r>
              <a:rPr lang="en-US" b="1" dirty="0">
                <a:latin typeface="Times New Roman" panose="02020603050405020304" pitchFamily="18" charset="0"/>
                <a:cs typeface="Times New Roman" panose="02020603050405020304" pitchFamily="18" charset="0"/>
              </a:rPr>
              <a:t>tamper-proof visitor pass system</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overcomes the </a:t>
            </a:r>
            <a:r>
              <a:rPr lang="en-US" b="1" dirty="0">
                <a:latin typeface="Times New Roman" panose="02020603050405020304" pitchFamily="18" charset="0"/>
                <a:cs typeface="Times New Roman" panose="02020603050405020304" pitchFamily="18" charset="0"/>
              </a:rPr>
              <a:t>limitations of manual systems</a:t>
            </a:r>
            <a:r>
              <a:rPr lang="en-US" dirty="0">
                <a:latin typeface="Times New Roman" panose="02020603050405020304" pitchFamily="18" charset="0"/>
                <a:cs typeface="Times New Roman" panose="02020603050405020304" pitchFamily="18" charset="0"/>
              </a:rPr>
              <a:t> such as errors, forgery, and lack of real-time verification.</a:t>
            </a:r>
          </a:p>
          <a:p>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OCR</a:t>
            </a:r>
            <a:r>
              <a:rPr lang="en-US" dirty="0">
                <a:latin typeface="Times New Roman" panose="02020603050405020304" pitchFamily="18" charset="0"/>
                <a:cs typeface="Times New Roman" panose="02020603050405020304" pitchFamily="18" charset="0"/>
              </a:rPr>
              <a:t> ensures automated and accurate extraction of visitor details, reducing administrative burden.</a:t>
            </a:r>
          </a:p>
          <a:p>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Blockchain logging</a:t>
            </a:r>
            <a:r>
              <a:rPr lang="en-US" dirty="0">
                <a:latin typeface="Times New Roman" panose="02020603050405020304" pitchFamily="18" charset="0"/>
                <a:cs typeface="Times New Roman" panose="02020603050405020304" pitchFamily="18" charset="0"/>
              </a:rPr>
              <a:t> provides immutability, transparency, and decentralized verification of visitor records.</a:t>
            </a:r>
          </a:p>
          <a:p>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QR-based gate pass</a:t>
            </a:r>
            <a:r>
              <a:rPr lang="en-US" dirty="0">
                <a:latin typeface="Times New Roman" panose="02020603050405020304" pitchFamily="18" charset="0"/>
                <a:cs typeface="Times New Roman" panose="02020603050405020304" pitchFamily="18" charset="0"/>
              </a:rPr>
              <a:t> simplifies validation for security personnel, making the entry process faster and more reliable.</a:t>
            </a:r>
          </a:p>
          <a:p>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enhances </a:t>
            </a:r>
            <a:r>
              <a:rPr lang="en-US" b="1" dirty="0">
                <a:latin typeface="Times New Roman" panose="02020603050405020304" pitchFamily="18" charset="0"/>
                <a:cs typeface="Times New Roman" panose="02020603050405020304" pitchFamily="18" charset="0"/>
              </a:rPr>
              <a:t>efficiency, security, and accountability</a:t>
            </a:r>
            <a:r>
              <a:rPr lang="en-US" dirty="0">
                <a:latin typeface="Times New Roman" panose="02020603050405020304" pitchFamily="18" charset="0"/>
                <a:cs typeface="Times New Roman" panose="02020603050405020304" pitchFamily="18" charset="0"/>
              </a:rPr>
              <a:t>, making it suitable for institutions, corporate offices, and government organizations.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62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00C8-FA8B-6722-E581-63807FE58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506ED-A2BC-3BD2-EAFD-3E5C13170CA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Future Scope</a:t>
            </a:r>
          </a:p>
        </p:txBody>
      </p:sp>
      <p:pic>
        <p:nvPicPr>
          <p:cNvPr id="3" name="Picture 2">
            <a:extLst>
              <a:ext uri="{FF2B5EF4-FFF2-40B4-BE49-F238E27FC236}">
                <a16:creationId xmlns:a16="http://schemas.microsoft.com/office/drawing/2014/main" id="{6C880D63-6B7B-893A-9243-0C60E6BA5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8" name="Rectangle 4">
            <a:extLst>
              <a:ext uri="{FF2B5EF4-FFF2-40B4-BE49-F238E27FC236}">
                <a16:creationId xmlns:a16="http://schemas.microsoft.com/office/drawing/2014/main" id="{20B3AAB7-D265-1A44-9146-7CACA82E8E36}"/>
              </a:ext>
            </a:extLst>
          </p:cNvPr>
          <p:cNvSpPr>
            <a:spLocks noChangeArrowheads="1"/>
          </p:cNvSpPr>
          <p:nvPr/>
        </p:nvSpPr>
        <p:spPr bwMode="auto">
          <a:xfrm>
            <a:off x="257243" y="-5094910"/>
            <a:ext cx="11225048" cy="114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Multi-Blockchain Support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Extend beyond Stellar to other blockchains (e.g., Ethereum, Hyperledger) for interoperability.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 Development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Build a cross-platform mobile app (Android/iOS) for real-time pass generation and verification.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OCR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 deep learning models to improve OCR accuracy for different ID formats and languages.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for Enterprises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Deploy on cloud infrastructure to support large organizations, universities, and smart cities.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Visitor Analytics Dashboard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 advanced analytics and reporting for monitoring visitor trends and enhancing security.</a:t>
            </a:r>
          </a:p>
        </p:txBody>
      </p:sp>
    </p:spTree>
    <p:extLst>
      <p:ext uri="{BB962C8B-B14F-4D97-AF65-F5344CB8AC3E}">
        <p14:creationId xmlns:p14="http://schemas.microsoft.com/office/powerpoint/2010/main" val="177096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AEF8D-B53D-B2CA-078B-E918D9DDF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DE804-AD11-EAF7-2FA2-12EAC137E7D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References</a:t>
            </a:r>
          </a:p>
        </p:txBody>
      </p:sp>
      <p:pic>
        <p:nvPicPr>
          <p:cNvPr id="3" name="Picture 2">
            <a:extLst>
              <a:ext uri="{FF2B5EF4-FFF2-40B4-BE49-F238E27FC236}">
                <a16:creationId xmlns:a16="http://schemas.microsoft.com/office/drawing/2014/main" id="{2590598D-F8A0-60B8-5BE3-C33304C43B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4" name="Rectangle 1">
            <a:extLst>
              <a:ext uri="{FF2B5EF4-FFF2-40B4-BE49-F238E27FC236}">
                <a16:creationId xmlns:a16="http://schemas.microsoft.com/office/drawing/2014/main" id="{10C30752-10C1-ADA0-346F-176778055B2A}"/>
              </a:ext>
            </a:extLst>
          </p:cNvPr>
          <p:cNvSpPr>
            <a:spLocks noChangeArrowheads="1"/>
          </p:cNvSpPr>
          <p:nvPr/>
        </p:nvSpPr>
        <p:spPr bwMode="auto">
          <a:xfrm>
            <a:off x="451945" y="-5547138"/>
            <a:ext cx="10105957" cy="1200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Goodfellow, I., Bengio, Y., &amp; Courville, A. (2016).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MIT Press.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Smith, R. (2007). "An Overview of the Tesseract OCR Engine."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Proceedings of ICDAR 2007</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IEEE.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Narayanan, A., Bonneau, J., Felten, E., Miller, A., &amp; Goldfeder, S. (2016).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Bitcoin and Cryptocurrency Technologies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Princeton University Press.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Stellar Development Foundation. (2023).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Stellar Blockchain Documentation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[Online]. Available: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https://developers.stellar.org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Albedo Wallet Docs. (2023).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Albedo Wallet Integration Guide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[Online]. Available: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https://albedo.link</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Pinata. (2023).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IPFS &amp; Decentralized Storage Solutions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[Online]. Available: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5"/>
              </a:rPr>
              <a:t>https://pinata.cloud</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9860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4EFC4-313A-3C0E-E3B5-887AEB6313F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2BA12EF-C46A-0396-13EF-BCFBC48B3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6" name="TextBox 5">
            <a:extLst>
              <a:ext uri="{FF2B5EF4-FFF2-40B4-BE49-F238E27FC236}">
                <a16:creationId xmlns:a16="http://schemas.microsoft.com/office/drawing/2014/main" id="{17A0ED22-E146-60D5-0DC6-468CB317A5F4}"/>
              </a:ext>
            </a:extLst>
          </p:cNvPr>
          <p:cNvSpPr txBox="1"/>
          <p:nvPr/>
        </p:nvSpPr>
        <p:spPr>
          <a:xfrm>
            <a:off x="1133953" y="2753711"/>
            <a:ext cx="9924093" cy="1569660"/>
          </a:xfrm>
          <a:prstGeom prst="rect">
            <a:avLst/>
          </a:prstGeom>
          <a:noFill/>
        </p:spPr>
        <p:txBody>
          <a:bodyPr wrap="square" rtlCol="0">
            <a:spAutoFit/>
          </a:bodyPr>
          <a:lstStyle/>
          <a:p>
            <a:pPr algn="ctr"/>
            <a:r>
              <a:rPr lang="en-IN" sz="9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3745910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1055</TotalTime>
  <Words>1490</Words>
  <Application>Microsoft Office PowerPoint</Application>
  <PresentationFormat>Widescreen</PresentationFormat>
  <Paragraphs>214</Paragraphs>
  <Slides>28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  MALLA REDDY COLLEGE OF ENGINEERING &amp; TECHNOLOGY  (Autonomous Institution – UGC, Govt. of India)   DEPARTMENT OF COMPUTER SCIENCE AND ENGINEERING</vt:lpstr>
      <vt:lpstr>AGENDA</vt:lpstr>
      <vt:lpstr>Abstract</vt:lpstr>
      <vt:lpstr>    Introduction</vt:lpstr>
      <vt:lpstr>Existing system</vt:lpstr>
      <vt:lpstr>Proposed system</vt:lpstr>
      <vt:lpstr>Software Requirements</vt:lpstr>
      <vt:lpstr>PowerPoint Presentation</vt:lpstr>
      <vt:lpstr>PowerPoint Presentation</vt:lpstr>
      <vt:lpstr>Architecture</vt:lpstr>
      <vt:lpstr>UML Diagrams 1.Class Diagram</vt:lpstr>
      <vt:lpstr>2.Use Case Diagram</vt:lpstr>
      <vt:lpstr>3.Sequence Diagram</vt:lpstr>
      <vt:lpstr>4.Activity Diagram</vt:lpstr>
      <vt:lpstr>5.Component Diagram</vt:lpstr>
      <vt:lpstr>6.State Chart Diagram</vt:lpstr>
      <vt:lpstr>7.Deployment Diagram</vt:lpstr>
      <vt:lpstr>Technologies </vt:lpstr>
      <vt:lpstr>Modules Description </vt:lpstr>
      <vt:lpstr>Output Screens </vt:lpstr>
      <vt:lpstr>Output Screens </vt:lpstr>
      <vt:lpstr>Output Screens </vt:lpstr>
      <vt:lpstr>Output Screens </vt:lpstr>
      <vt:lpstr>Output Screens </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MALLA REDDY COLLEGE OF ENGINEERING &amp; TECHNOLOGY  (Autonomous Institution – UGC, Govt. of India)   DEPARTMENT OF COMPUTER SCIENCE AND ENGINEERING</dc:title>
  <dc:creator>MRCET</dc:creator>
  <cp:lastModifiedBy>Yuva Akhil</cp:lastModifiedBy>
  <cp:revision>40</cp:revision>
  <dcterms:created xsi:type="dcterms:W3CDTF">2024-02-28T09:55:00Z</dcterms:created>
  <dcterms:modified xsi:type="dcterms:W3CDTF">2025-09-18T08:24:44Z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63AC2C19E2174FC4AC502543E11B4E3B_12</vt:lpwstr>
  </property>
  <property fmtid="{D5CDD505-2E9C-101B-9397-08002B2CF9AE}" pid="3" name="KSOProductBuildVer">
    <vt:lpwstr>1033-12.2.0.17545</vt:lpwstr>
  </property>
</Properties>
</file>